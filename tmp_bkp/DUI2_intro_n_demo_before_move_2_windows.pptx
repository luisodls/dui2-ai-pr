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2192000" cy="6858000"/>
  <p:notesSz cx="6797675" cy="9872663"/>
  <p:embeddedFontLst>
    <p:embeddedFont>
      <p:font typeface="Average" panose="020B0604020202020204" charset="0"/>
      <p:regular r:id="rId59"/>
    </p:embeddedFont>
    <p:embeddedFont>
      <p:font typeface="Cambria" panose="02040503050406030204" pitchFamily="18" charset="0"/>
      <p:regular r:id="rId60"/>
      <p:bold r:id="rId61"/>
      <p:italic r:id="rId62"/>
      <p:boldItalic r:id="rId63"/>
    </p:embeddedFont>
    <p:embeddedFont>
      <p:font typeface="Consolas" panose="020B0609020204030204" pitchFamily="49" charset="0"/>
      <p:regular r:id="rId64"/>
      <p:bold r:id="rId65"/>
      <p:italic r:id="rId66"/>
      <p:boldItalic r:id="rId67"/>
    </p:embeddedFont>
    <p:embeddedFont>
      <p:font typeface="Georgia" panose="02040502050405020303" pitchFamily="18" charset="0"/>
      <p:regular r:id="rId68"/>
      <p:bold r:id="rId69"/>
      <p:italic r:id="rId70"/>
      <p:boldItalic r:id="rId71"/>
    </p:embeddedFont>
    <p:embeddedFont>
      <p:font typeface="Oswald" panose="020F0502020204030204" pitchFamily="2" charset="0"/>
      <p:regular r:id="rId72"/>
      <p:bold r:id="rId7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4" roundtripDataSignature="AMtx7mi2DMrokeVqMTAl3LsFKQxDtp/5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32" dt="2026-09-09T21:17:41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5.fntdata"/><Relationship Id="rId68" Type="http://schemas.openxmlformats.org/officeDocument/2006/relationships/font" Target="fonts/font10.fntdata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8.fntdata"/><Relationship Id="rId74" Type="http://customschemas.google.com/relationships/presentationmetadata" Target="metadata"/><Relationship Id="rId79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2.fntdata"/><Relationship Id="rId65" Type="http://schemas.openxmlformats.org/officeDocument/2006/relationships/font" Target="fonts/font7.fntdata"/><Relationship Id="rId73" Type="http://schemas.openxmlformats.org/officeDocument/2006/relationships/font" Target="fonts/font15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6.fntdata"/><Relationship Id="rId69" Type="http://schemas.openxmlformats.org/officeDocument/2006/relationships/font" Target="fonts/font11.fntdata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.fntdata"/><Relationship Id="rId67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4.fntdata"/><Relationship Id="rId70" Type="http://schemas.openxmlformats.org/officeDocument/2006/relationships/font" Target="fonts/font12.fntdata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5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5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7317"/>
            <a:ext cx="2945659" cy="49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3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" name="Google Shape;83;p3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400" cy="3332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5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5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a72f117d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fa72f117da_0_1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3fa72f117da_0_1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6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400" cy="3332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7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400" cy="3332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8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400" cy="3332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9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9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400" cy="3332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10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a72f117da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3fa72f117da_0_41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g3fa72f117da_0_41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a72f117d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fa72f117da_0_33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g3fa72f117da_0_33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2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12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13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13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4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p14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15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15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17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6" name="Google Shape;286;p17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a7e4a888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g3fa7e4a8881_0_45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3" name="Google Shape;313;g3fa7e4a8881_0_45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p18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p18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19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p19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20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0" name="Google Shape;360;p20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21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21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4" name="Google Shape;394;p22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5" name="Google Shape;395;p22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p23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2" name="Google Shape;412;p23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9" name="Google Shape;429;p24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0" name="Google Shape;430;p24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25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6" name="Google Shape;446;p25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1" name="Google Shape;461;p26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2" name="Google Shape;462;p26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27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9" name="Google Shape;479;p27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4" name="Google Shape;494;p28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5" name="Google Shape;495;p28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8" name="Google Shape;518;p29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9" name="Google Shape;519;p29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9" name="Google Shape;529;p30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0" name="Google Shape;530;p30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5" name="Google Shape;545;p31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6" name="Google Shape;546;p31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5" name="Google Shape;555;p32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6" name="Google Shape;556;p32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4" name="Google Shape;574;p33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5" name="Google Shape;575;p33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3" name="Google Shape;5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1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7" name="Google Shape;6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9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1" name="Google Shape;621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0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5" name="Google Shape;635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1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9" name="Google Shape;649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2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3" name="Google Shape;663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7" name="Google Shape;677;p37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8" name="Google Shape;678;p37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3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6" name="Google Shape;69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64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9" name="Google Shape;709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2" name="Google Shape;722;p39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3" name="Google Shape;723;p39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400" cy="3332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2" name="Google Shape;732;p40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3" name="Google Shape;733;p40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6" name="Google Shape;746;p41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7" name="Google Shape;747;p41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5" name="Google Shape;765;p42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6" name="Google Shape;766;p42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5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4" name="Google Shape;784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66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8" name="Google Shape;79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2" name="Google Shape;812;p44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3" name="Google Shape;813;p44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45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3" name="Google Shape;823;p45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1" name="Google Shape;841;p46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2" name="Google Shape;842;p46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67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0" name="Google Shape;860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68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4" name="Google Shape;874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400" cy="3332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8" name="Google Shape;888;p48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9" name="Google Shape;889;p48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55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4" name="Google Shape;904;p49:notes"/>
          <p:cNvSpPr txBox="1">
            <a:spLocks noGrp="1"/>
          </p:cNvSpPr>
          <p:nvPr>
            <p:ph type="body" idx="1"/>
          </p:nvPr>
        </p:nvSpPr>
        <p:spPr>
          <a:xfrm>
            <a:off x="679768" y="4751219"/>
            <a:ext cx="54381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5" name="Google Shape;905;p49:notes"/>
          <p:cNvSpPr txBox="1">
            <a:spLocks noGrp="1"/>
          </p:cNvSpPr>
          <p:nvPr>
            <p:ph type="sldNum" idx="12"/>
          </p:nvPr>
        </p:nvSpPr>
        <p:spPr>
          <a:xfrm>
            <a:off x="3850443" y="9377317"/>
            <a:ext cx="2945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56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1" descr="A yellow triangle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l="34219"/>
          <a:stretch/>
        </p:blipFill>
        <p:spPr>
          <a:xfrm rot="-5400000">
            <a:off x="2438676" y="67716"/>
            <a:ext cx="4351608" cy="922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1"/>
          <p:cNvSpPr txBox="1">
            <a:spLocks noGrp="1"/>
          </p:cNvSpPr>
          <p:nvPr>
            <p:ph type="ctrTitle"/>
          </p:nvPr>
        </p:nvSpPr>
        <p:spPr>
          <a:xfrm>
            <a:off x="359998" y="3482088"/>
            <a:ext cx="7844202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1"/>
          <p:cNvSpPr txBox="1">
            <a:spLocks noGrp="1"/>
          </p:cNvSpPr>
          <p:nvPr>
            <p:ph type="subTitle" idx="1"/>
          </p:nvPr>
        </p:nvSpPr>
        <p:spPr>
          <a:xfrm>
            <a:off x="359999" y="4922088"/>
            <a:ext cx="7361600" cy="1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9" name="Google Shape;19;p51" descr="A white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4625" y="360001"/>
            <a:ext cx="1917375" cy="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 width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2" descr="A yellow and black triangle&#10;&#10;AI-generated content may be incorrect."/>
          <p:cNvPicPr preferRelativeResize="0"/>
          <p:nvPr/>
        </p:nvPicPr>
        <p:blipFill rotWithShape="1">
          <a:blip r:embed="rId2">
            <a:alphaModFix amt="38000"/>
          </a:blip>
          <a:srcRect b="27031"/>
          <a:stretch/>
        </p:blipFill>
        <p:spPr>
          <a:xfrm flipH="1">
            <a:off x="9842427" y="6173127"/>
            <a:ext cx="1711569" cy="68487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2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11472001" cy="110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2"/>
          <p:cNvSpPr txBox="1">
            <a:spLocks noGrp="1"/>
          </p:cNvSpPr>
          <p:nvPr>
            <p:ph type="body" idx="1"/>
          </p:nvPr>
        </p:nvSpPr>
        <p:spPr>
          <a:xfrm>
            <a:off x="359999" y="1461157"/>
            <a:ext cx="11483265" cy="4623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Google Shape;24;p52" descr="A blue text on a black background&#10;&#10;AI-generated content may be incorrect."/>
          <p:cNvPicPr preferRelativeResize="0"/>
          <p:nvPr/>
        </p:nvPicPr>
        <p:blipFill rotWithShape="1">
          <a:blip r:embed="rId3">
            <a:alphaModFix amt="22000"/>
          </a:blip>
          <a:srcRect/>
          <a:stretch/>
        </p:blipFill>
        <p:spPr>
          <a:xfrm>
            <a:off x="541324" y="6300763"/>
            <a:ext cx="1277336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2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6" name="Google Shape;26;p52"/>
          <p:cNvPicPr preferRelativeResize="0"/>
          <p:nvPr/>
        </p:nvPicPr>
        <p:blipFill rotWithShape="1">
          <a:blip r:embed="rId4">
            <a:alphaModFix amt="22000"/>
          </a:blip>
          <a:srcRect/>
          <a:stretch/>
        </p:blipFill>
        <p:spPr>
          <a:xfrm>
            <a:off x="2024875" y="6337775"/>
            <a:ext cx="1110489" cy="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52"/>
          <p:cNvPicPr preferRelativeResize="0"/>
          <p:nvPr/>
        </p:nvPicPr>
        <p:blipFill rotWithShape="1">
          <a:blip r:embed="rId5">
            <a:alphaModFix amt="22000"/>
          </a:blip>
          <a:srcRect/>
          <a:stretch/>
        </p:blipFill>
        <p:spPr>
          <a:xfrm>
            <a:off x="3531525" y="6261213"/>
            <a:ext cx="1021675" cy="43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solidFill>
          <a:schemeClr val="accen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53" descr="A blue triangle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l="34219"/>
          <a:stretch/>
        </p:blipFill>
        <p:spPr>
          <a:xfrm rot="-5400000">
            <a:off x="2438675" y="67716"/>
            <a:ext cx="4351609" cy="922896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3"/>
          <p:cNvSpPr txBox="1">
            <a:spLocks noGrp="1"/>
          </p:cNvSpPr>
          <p:nvPr>
            <p:ph type="subTitle" idx="1"/>
          </p:nvPr>
        </p:nvSpPr>
        <p:spPr>
          <a:xfrm>
            <a:off x="359999" y="4922088"/>
            <a:ext cx="7361599" cy="1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1" name="Google Shape;31;p53"/>
          <p:cNvSpPr txBox="1">
            <a:spLocks noGrp="1"/>
          </p:cNvSpPr>
          <p:nvPr>
            <p:ph type="ctrTitle"/>
          </p:nvPr>
        </p:nvSpPr>
        <p:spPr>
          <a:xfrm>
            <a:off x="359998" y="3482088"/>
            <a:ext cx="7844201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bg>
      <p:bgPr>
        <a:solidFill>
          <a:schemeClr val="accen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4" descr="An orange triangle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l="34219"/>
          <a:stretch/>
        </p:blipFill>
        <p:spPr>
          <a:xfrm rot="-5400000">
            <a:off x="2438674" y="67716"/>
            <a:ext cx="4351609" cy="922896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4"/>
          <p:cNvSpPr txBox="1">
            <a:spLocks noGrp="1"/>
          </p:cNvSpPr>
          <p:nvPr>
            <p:ph type="ctrTitle"/>
          </p:nvPr>
        </p:nvSpPr>
        <p:spPr>
          <a:xfrm>
            <a:off x="359998" y="3482088"/>
            <a:ext cx="7844201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5" name="Google Shape;35;p54" descr="A white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4625" y="360001"/>
            <a:ext cx="1917375" cy="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lumn">
  <p:cSld name="Two colum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5" descr="A yellow and black triangle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b="27031"/>
          <a:stretch/>
        </p:blipFill>
        <p:spPr>
          <a:xfrm flipH="1">
            <a:off x="9842427" y="6173127"/>
            <a:ext cx="1711569" cy="684873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5"/>
          <p:cNvSpPr txBox="1">
            <a:spLocks noGrp="1"/>
          </p:cNvSpPr>
          <p:nvPr>
            <p:ph type="body" idx="1"/>
          </p:nvPr>
        </p:nvSpPr>
        <p:spPr>
          <a:xfrm>
            <a:off x="359999" y="1461157"/>
            <a:ext cx="5659801" cy="4623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5"/>
          <p:cNvSpPr txBox="1">
            <a:spLocks noGrp="1"/>
          </p:cNvSpPr>
          <p:nvPr>
            <p:ph type="body" idx="2"/>
          </p:nvPr>
        </p:nvSpPr>
        <p:spPr>
          <a:xfrm>
            <a:off x="6172200" y="1461157"/>
            <a:ext cx="5659800" cy="4623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0" name="Google Shape;40;p55" descr="A blue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9999" y="6182088"/>
            <a:ext cx="1277339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5"/>
          <p:cNvSpPr txBox="1">
            <a:spLocks noGrp="1"/>
          </p:cNvSpPr>
          <p:nvPr>
            <p:ph type="ftr" idx="11"/>
          </p:nvPr>
        </p:nvSpPr>
        <p:spPr>
          <a:xfrm>
            <a:off x="4038600" y="618040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5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55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11472001" cy="110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right">
  <p:cSld name="Image righ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6"/>
          <p:cNvSpPr txBox="1">
            <a:spLocks noGrp="1"/>
          </p:cNvSpPr>
          <p:nvPr>
            <p:ph type="title"/>
          </p:nvPr>
        </p:nvSpPr>
        <p:spPr>
          <a:xfrm>
            <a:off x="359999" y="365125"/>
            <a:ext cx="5659801" cy="1096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6"/>
          <p:cNvSpPr txBox="1">
            <a:spLocks noGrp="1"/>
          </p:cNvSpPr>
          <p:nvPr>
            <p:ph type="body" idx="1"/>
          </p:nvPr>
        </p:nvSpPr>
        <p:spPr>
          <a:xfrm>
            <a:off x="359999" y="1461156"/>
            <a:ext cx="5659801" cy="4623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7" name="Google Shape;47;p56" descr="A blue text on a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9999" y="6182088"/>
            <a:ext cx="1277339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6"/>
          <p:cNvSpPr>
            <a:spLocks noGrp="1"/>
          </p:cNvSpPr>
          <p:nvPr>
            <p:ph type="pic" idx="2"/>
          </p:nvPr>
        </p:nvSpPr>
        <p:spPr>
          <a:xfrm>
            <a:off x="6108000" y="1"/>
            <a:ext cx="6075181" cy="65786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57" descr="A yellow and black triangle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b="34134"/>
          <a:stretch/>
        </p:blipFill>
        <p:spPr>
          <a:xfrm flipH="1">
            <a:off x="9851954" y="6239802"/>
            <a:ext cx="1711569" cy="618198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7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11472001" cy="110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ftr" idx="11"/>
          </p:nvPr>
        </p:nvSpPr>
        <p:spPr>
          <a:xfrm>
            <a:off x="3843746" y="618040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7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4" name="Google Shape;54;p57" descr="A blue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9999" y="6182088"/>
            <a:ext cx="1277339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58" descr="A yellow and black triangle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b="34134"/>
          <a:stretch/>
        </p:blipFill>
        <p:spPr>
          <a:xfrm flipH="1">
            <a:off x="9851954" y="6239802"/>
            <a:ext cx="1711569" cy="61819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8"/>
          <p:cNvSpPr txBox="1">
            <a:spLocks noGrp="1"/>
          </p:cNvSpPr>
          <p:nvPr>
            <p:ph type="ftr" idx="11"/>
          </p:nvPr>
        </p:nvSpPr>
        <p:spPr>
          <a:xfrm>
            <a:off x="3843746" y="618040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8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9" name="Google Shape;59;p58" descr="A blue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9999" y="6182088"/>
            <a:ext cx="1277339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0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11472001" cy="110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0"/>
          <p:cNvSpPr txBox="1">
            <a:spLocks noGrp="1"/>
          </p:cNvSpPr>
          <p:nvPr>
            <p:ph type="body" idx="1"/>
          </p:nvPr>
        </p:nvSpPr>
        <p:spPr>
          <a:xfrm>
            <a:off x="359999" y="1461156"/>
            <a:ext cx="11483265" cy="4715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0"/>
          <p:cNvSpPr txBox="1">
            <a:spLocks noGrp="1"/>
          </p:cNvSpPr>
          <p:nvPr>
            <p:ph type="ftr" idx="11"/>
          </p:nvPr>
        </p:nvSpPr>
        <p:spPr>
          <a:xfrm>
            <a:off x="4038600" y="618040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0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" name="Google Shape;14;p50"/>
          <p:cNvSpPr txBox="1"/>
          <p:nvPr/>
        </p:nvSpPr>
        <p:spPr>
          <a:xfrm>
            <a:off x="5454650" y="6626860"/>
            <a:ext cx="1311275" cy="16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Classification: Public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AB89E-9E83-D111-7176-FAFC01492FA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54650" y="6626860"/>
            <a:ext cx="1311275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Public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>
            <a:spLocks noGrp="1"/>
          </p:cNvSpPr>
          <p:nvPr>
            <p:ph type="ctrTitle"/>
          </p:nvPr>
        </p:nvSpPr>
        <p:spPr>
          <a:xfrm>
            <a:off x="360000" y="3482095"/>
            <a:ext cx="7844100" cy="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GB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DUI2 - Dials User Interface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65" name="Google Shape;65;p1"/>
          <p:cNvSpPr txBox="1">
            <a:spLocks noGrp="1"/>
          </p:cNvSpPr>
          <p:nvPr>
            <p:ph type="subTitle" idx="1"/>
          </p:nvPr>
        </p:nvSpPr>
        <p:spPr>
          <a:xfrm>
            <a:off x="601200" y="4523200"/>
            <a:ext cx="73617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800">
                <a:solidFill>
                  <a:srgbClr val="0000FF"/>
                </a:solidFill>
              </a:rPr>
              <a:t>Dr. Luis Fuentes-Montero  (Luiso)</a:t>
            </a:r>
            <a:endParaRPr sz="3400">
              <a:solidFill>
                <a:srgbClr val="0000FF"/>
              </a:solidFill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95475" y="1156159"/>
            <a:ext cx="2070498" cy="84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01071" y="5223637"/>
            <a:ext cx="1761950" cy="121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2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908100" y="222181"/>
            <a:ext cx="10375800" cy="11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225" tIns="114225" rIns="114225" bIns="1142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8"/>
              <a:buFont typeface="Arial"/>
              <a:buNone/>
            </a:pPr>
            <a:r>
              <a:rPr lang="en-GB" sz="4498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What is DIALS?</a:t>
            </a:r>
            <a:endParaRPr sz="4498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2898300" y="1574700"/>
            <a:ext cx="6395400" cy="4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225" tIns="114225" rIns="114225" bIns="1142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lang="en-GB" sz="2999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GB" sz="2999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iffraction </a:t>
            </a:r>
            <a:r>
              <a:rPr lang="en-GB" sz="2999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GB" sz="2999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ntegration for </a:t>
            </a:r>
            <a:r>
              <a:rPr lang="en-GB" sz="2999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GB" sz="2999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dvanced </a:t>
            </a:r>
            <a:r>
              <a:rPr lang="en-GB" sz="2999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GB" sz="2999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ight </a:t>
            </a:r>
            <a:r>
              <a:rPr lang="en-GB" sz="2999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GB" sz="2999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ources</a:t>
            </a:r>
            <a:endParaRPr sz="2999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254" marR="0" lvl="0" indent="-443959" algn="l" rtl="0">
              <a:lnSpc>
                <a:spcPct val="100000"/>
              </a:lnSpc>
              <a:spcBef>
                <a:spcPts val="751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Calibri"/>
              <a:buChar char="●"/>
            </a:pPr>
            <a:r>
              <a:rPr lang="en-GB" sz="2499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Project began in late 2011 at Diamond Light Source and CCP4</a:t>
            </a:r>
            <a:endParaRPr sz="2499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254" marR="0" lvl="0" indent="-4439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Calibri"/>
              <a:buChar char="●"/>
            </a:pPr>
            <a:r>
              <a:rPr lang="en-GB" sz="2499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Additional funding by BioStruct-X and now Wellcome Trust</a:t>
            </a:r>
            <a:endParaRPr sz="2499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254" marR="0" lvl="0" indent="-4439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Calibri"/>
              <a:buChar char="●"/>
            </a:pPr>
            <a:r>
              <a:rPr lang="en-GB" sz="2499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Aim to develop new data processing software to meet modern challenges</a:t>
            </a:r>
            <a:endParaRPr sz="2499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254" marR="0" lvl="0" indent="-4439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Calibri"/>
              <a:buChar char="●"/>
            </a:pPr>
            <a:r>
              <a:rPr lang="en-GB" sz="2499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Now an international collaborative development</a:t>
            </a:r>
            <a:endParaRPr sz="2499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85167" y="955687"/>
            <a:ext cx="1491475" cy="1260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876" y="846276"/>
            <a:ext cx="1742848" cy="1260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36294" y="4544447"/>
            <a:ext cx="1802187" cy="1260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29814" y="2867861"/>
            <a:ext cx="1802188" cy="118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2"/>
          <p:cNvPicPr preferRelativeResize="0"/>
          <p:nvPr/>
        </p:nvPicPr>
        <p:blipFill rotWithShape="1">
          <a:blip r:embed="rId7">
            <a:alphaModFix/>
          </a:blip>
          <a:srcRect l="5674" r="5674"/>
          <a:stretch/>
        </p:blipFill>
        <p:spPr>
          <a:xfrm>
            <a:off x="630113" y="3148499"/>
            <a:ext cx="1314361" cy="2083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3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2705100" y="302925"/>
            <a:ext cx="6781800" cy="8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25" tIns="116025" rIns="116025" bIns="11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68"/>
              <a:buFont typeface="Arial"/>
              <a:buNone/>
            </a:pPr>
            <a:r>
              <a:rPr lang="en-GB" sz="4568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DIALS commands</a:t>
            </a:r>
            <a:endParaRPr sz="4568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2705100" y="947911"/>
            <a:ext cx="6781800" cy="50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25" tIns="116025" rIns="116025" bIns="116025" anchor="t" anchorCtr="0">
            <a:noAutofit/>
          </a:bodyPr>
          <a:lstStyle/>
          <a:p>
            <a:pPr marL="580074" marR="0" lvl="0" indent="-466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1"/>
              <a:buFont typeface="Consolas"/>
              <a:buChar char="•"/>
            </a:pPr>
            <a:r>
              <a:rPr lang="en-GB" sz="2791" b="1" i="0" u="none" strike="noStrike" cap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dials.import</a:t>
            </a:r>
            <a:endParaRPr sz="27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80074" marR="0" lvl="0" indent="-466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1"/>
              <a:buFont typeface="Consolas"/>
              <a:buChar char="•"/>
            </a:pPr>
            <a:r>
              <a:rPr lang="en-GB" sz="2791" b="1" i="0" u="none" strike="noStrike" cap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dials.find_spots</a:t>
            </a:r>
            <a:endParaRPr sz="27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80074" marR="0" lvl="0" indent="-466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1"/>
              <a:buFont typeface="Consolas"/>
              <a:buChar char="•"/>
            </a:pPr>
            <a:r>
              <a:rPr lang="en-GB" sz="2791" b="1" i="0" u="none" strike="noStrike" cap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dials.index</a:t>
            </a:r>
            <a:endParaRPr sz="27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80074" marR="0" lvl="0" indent="-466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1"/>
              <a:buFont typeface="Consolas"/>
              <a:buChar char="•"/>
            </a:pPr>
            <a:r>
              <a:rPr lang="en-GB" sz="2791" b="1" i="0" u="none" strike="noStrike" cap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dials.refine_bravais_settings</a:t>
            </a:r>
            <a:endParaRPr sz="27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80074" marR="0" lvl="0" indent="-466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1"/>
              <a:buFont typeface="Consolas"/>
              <a:buChar char="•"/>
            </a:pPr>
            <a:r>
              <a:rPr lang="en-GB" sz="2791" b="1" i="0" u="none" strike="noStrike" cap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dials.reindex</a:t>
            </a:r>
            <a:endParaRPr sz="27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80074" marR="0" lvl="0" indent="-466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1"/>
              <a:buFont typeface="Consolas"/>
              <a:buChar char="•"/>
            </a:pPr>
            <a:r>
              <a:rPr lang="en-GB" sz="2791" b="1" i="0" u="none" strike="noStrike" cap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dials.refine</a:t>
            </a:r>
            <a:endParaRPr sz="27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80074" marR="0" lvl="0" indent="-466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1"/>
              <a:buFont typeface="Consolas"/>
              <a:buChar char="•"/>
            </a:pPr>
            <a:r>
              <a:rPr lang="en-GB" sz="2791" b="1" i="0" u="none" strike="noStrike" cap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dials.integrate</a:t>
            </a:r>
            <a:endParaRPr sz="27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80074" marR="0" lvl="0" indent="-466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1"/>
              <a:buFont typeface="Consolas"/>
              <a:buChar char="•"/>
            </a:pPr>
            <a:r>
              <a:rPr lang="en-GB" sz="2791" b="1" i="0" u="none" strike="noStrike" cap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dials.symmetry</a:t>
            </a:r>
            <a:endParaRPr sz="2791" b="1" i="0" u="none" strike="noStrike" cap="none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80074" marR="0" lvl="0" indent="-466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1"/>
              <a:buFont typeface="Consolas"/>
              <a:buChar char="•"/>
            </a:pPr>
            <a:r>
              <a:rPr lang="en-GB" sz="2791" b="1" i="0" u="none" strike="noStrike" cap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dials.scale </a:t>
            </a:r>
            <a:endParaRPr sz="2791" b="1" i="0" u="none" strike="noStrike" cap="none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80074" marR="0" lvl="0" indent="-466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1"/>
              <a:buFont typeface="Consolas"/>
              <a:buChar char="•"/>
            </a:pPr>
            <a:r>
              <a:rPr lang="en-GB" sz="2791" b="1" i="0" u="none" strike="noStrike" cap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dials.export</a:t>
            </a:r>
            <a:endParaRPr sz="27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13"/>
              </a:spcBef>
              <a:spcAft>
                <a:spcPts val="0"/>
              </a:spcAft>
              <a:buClr>
                <a:srgbClr val="000000"/>
              </a:buClr>
              <a:buSzPts val="2791"/>
              <a:buFont typeface="Arial"/>
              <a:buNone/>
            </a:pPr>
            <a:r>
              <a:rPr lang="en-GB" sz="2791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More than 90 </a:t>
            </a:r>
            <a:r>
              <a:rPr lang="en-GB" sz="2791" b="1" i="0" u="none" strike="noStrike" cap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dials.*</a:t>
            </a:r>
            <a:r>
              <a:rPr lang="en-GB" sz="2791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commands</a:t>
            </a:r>
            <a:endParaRPr sz="27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4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2733970" y="1622543"/>
            <a:ext cx="5805111" cy="2996841"/>
          </a:xfrm>
          <a:custGeom>
            <a:avLst/>
            <a:gdLst/>
            <a:ahLst/>
            <a:cxnLst/>
            <a:rect l="l" t="t" r="r" b="b"/>
            <a:pathLst>
              <a:path w="202604" h="99373" extrusionOk="0">
                <a:moveTo>
                  <a:pt x="0" y="0"/>
                </a:moveTo>
                <a:cubicBezTo>
                  <a:pt x="3591" y="7933"/>
                  <a:pt x="13132" y="35322"/>
                  <a:pt x="21547" y="47596"/>
                </a:cubicBezTo>
                <a:cubicBezTo>
                  <a:pt x="29962" y="59870"/>
                  <a:pt x="35268" y="66248"/>
                  <a:pt x="50490" y="73645"/>
                </a:cubicBezTo>
                <a:cubicBezTo>
                  <a:pt x="65712" y="81042"/>
                  <a:pt x="87527" y="87688"/>
                  <a:pt x="112879" y="91976"/>
                </a:cubicBezTo>
                <a:cubicBezTo>
                  <a:pt x="138231" y="96264"/>
                  <a:pt x="187650" y="98140"/>
                  <a:pt x="202604" y="99373"/>
                </a:cubicBezTo>
              </a:path>
            </a:pathLst>
          </a:custGeom>
          <a:noFill/>
          <a:ln w="3090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3600" tIns="123600" rIns="123600" bIns="1236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 rot="-5400000">
            <a:off x="118871" y="2506974"/>
            <a:ext cx="3880500" cy="9711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FFFF"/>
          </a:solidFill>
          <a:ln w="1287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3600" tIns="123600" rIns="123600" bIns="123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4"/>
              <a:buFont typeface="Arial"/>
              <a:buNone/>
            </a:pPr>
            <a:r>
              <a:rPr lang="en-GB" sz="2434" b="0" i="0" u="none" strike="noStrike" cap="none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Ease of use</a:t>
            </a:r>
            <a:endParaRPr sz="2434" b="0" i="0" u="none" strike="noStrike" cap="none"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2320005" y="4723577"/>
            <a:ext cx="6957000" cy="1056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FFFF"/>
          </a:solidFill>
          <a:ln w="1287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3600" tIns="123600" rIns="123600" bIns="123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4"/>
              <a:buFont typeface="Arial"/>
              <a:buNone/>
            </a:pPr>
            <a:r>
              <a:rPr lang="en-GB" sz="2434" b="0" i="0" u="none" strike="noStrike" cap="none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Degree of control</a:t>
            </a:r>
            <a:endParaRPr sz="2434" b="0" i="0" u="none" strike="noStrike" cap="none"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3292165" y="1501218"/>
            <a:ext cx="12723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600" tIns="123600" rIns="123600" bIns="1236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811"/>
              </a:spcBef>
              <a:spcAft>
                <a:spcPts val="1352"/>
              </a:spcAft>
              <a:buClr>
                <a:srgbClr val="000000"/>
              </a:buClr>
              <a:buSzPts val="2704"/>
              <a:buFont typeface="Arial"/>
              <a:buNone/>
            </a:pPr>
            <a:r>
              <a:rPr lang="en-GB" sz="2704" b="0" i="0" u="none" strike="noStrike" cap="none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xia2</a:t>
            </a:r>
            <a:endParaRPr sz="2704" b="0" i="0" u="none" strike="noStrike" cap="none"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3937736" y="2327931"/>
            <a:ext cx="1947000" cy="9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600" tIns="123600" rIns="123600" bIns="1236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811"/>
              </a:spcBef>
              <a:spcAft>
                <a:spcPts val="1352"/>
              </a:spcAft>
              <a:buClr>
                <a:srgbClr val="000000"/>
              </a:buClr>
              <a:buSzPts val="2704"/>
              <a:buFont typeface="Arial"/>
              <a:buNone/>
            </a:pPr>
            <a:r>
              <a:rPr lang="en-GB" sz="2704" b="0" i="0" u="none" strike="noStrike" cap="none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DUI2</a:t>
            </a:r>
            <a:endParaRPr sz="2704" b="0" i="0" u="none" strike="noStrike" cap="none"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4123267" y="3022347"/>
            <a:ext cx="45000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600" tIns="123600" rIns="123600" bIns="12360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811"/>
              </a:spcBef>
              <a:spcAft>
                <a:spcPts val="1352"/>
              </a:spcAft>
              <a:buClr>
                <a:srgbClr val="000000"/>
              </a:buClr>
              <a:buSzPts val="2704"/>
              <a:buFont typeface="Arial"/>
              <a:buNone/>
            </a:pPr>
            <a:r>
              <a:rPr lang="en-GB" sz="2704" b="0" i="0" u="none" strike="noStrike" cap="none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Command line tools</a:t>
            </a:r>
            <a:endParaRPr sz="1893" b="0" i="0" u="none" strike="noStrike" cap="none"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7500000" y="3732053"/>
            <a:ext cx="32721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600" tIns="123600" rIns="123600" bIns="1236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811"/>
              </a:spcBef>
              <a:spcAft>
                <a:spcPts val="1352"/>
              </a:spcAft>
              <a:buClr>
                <a:srgbClr val="000000"/>
              </a:buClr>
              <a:buSzPts val="2704"/>
              <a:buFont typeface="Arial"/>
              <a:buNone/>
            </a:pPr>
            <a:r>
              <a:rPr lang="en-GB" sz="2704" b="0" i="0" u="none" strike="noStrike" cap="none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Programmer's API</a:t>
            </a:r>
            <a:endParaRPr sz="1893" b="0" i="0" u="none" strike="noStrike" cap="none"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11700" y="437300"/>
            <a:ext cx="115203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600" tIns="123600" rIns="123600" bIns="123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6"/>
              <a:buFont typeface="Arial"/>
              <a:buNone/>
            </a:pPr>
            <a:r>
              <a:rPr lang="en-GB" sz="4056" b="0" i="0" u="none" strike="noStrike" cap="none">
                <a:solidFill>
                  <a:srgbClr val="0000FF"/>
                </a:solidFill>
                <a:latin typeface="Oswald"/>
                <a:ea typeface="Oswald"/>
                <a:cs typeface="Oswald"/>
                <a:sym typeface="Oswald"/>
              </a:rPr>
              <a:t>Levels of interaction with Dials</a:t>
            </a:r>
            <a:endParaRPr sz="4056" b="0" i="0" u="none" strike="noStrike" cap="none">
              <a:solidFill>
                <a:srgbClr val="0000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a72f117da_0_1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5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108" name="Google Shape;108;g3fa72f117da_0_1"/>
          <p:cNvSpPr/>
          <p:nvPr/>
        </p:nvSpPr>
        <p:spPr>
          <a:xfrm>
            <a:off x="2733970" y="1622543"/>
            <a:ext cx="5805111" cy="2996841"/>
          </a:xfrm>
          <a:custGeom>
            <a:avLst/>
            <a:gdLst/>
            <a:ahLst/>
            <a:cxnLst/>
            <a:rect l="l" t="t" r="r" b="b"/>
            <a:pathLst>
              <a:path w="202604" h="99373" extrusionOk="0">
                <a:moveTo>
                  <a:pt x="0" y="0"/>
                </a:moveTo>
                <a:cubicBezTo>
                  <a:pt x="3591" y="7933"/>
                  <a:pt x="13132" y="35322"/>
                  <a:pt x="21547" y="47596"/>
                </a:cubicBezTo>
                <a:cubicBezTo>
                  <a:pt x="29962" y="59870"/>
                  <a:pt x="35268" y="66248"/>
                  <a:pt x="50490" y="73645"/>
                </a:cubicBezTo>
                <a:cubicBezTo>
                  <a:pt x="65712" y="81042"/>
                  <a:pt x="87527" y="87688"/>
                  <a:pt x="112879" y="91976"/>
                </a:cubicBezTo>
                <a:cubicBezTo>
                  <a:pt x="138231" y="96264"/>
                  <a:pt x="187650" y="98140"/>
                  <a:pt x="202604" y="99373"/>
                </a:cubicBezTo>
              </a:path>
            </a:pathLst>
          </a:custGeom>
          <a:noFill/>
          <a:ln w="3090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3600" tIns="123600" rIns="123600" bIns="1236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fa72f117da_0_1"/>
          <p:cNvSpPr/>
          <p:nvPr/>
        </p:nvSpPr>
        <p:spPr>
          <a:xfrm rot="-5400000">
            <a:off x="118871" y="2506974"/>
            <a:ext cx="3880500" cy="9711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FFFF"/>
          </a:solidFill>
          <a:ln w="1287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3600" tIns="123600" rIns="123600" bIns="123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4"/>
              <a:buFont typeface="Arial"/>
              <a:buNone/>
            </a:pPr>
            <a:r>
              <a:rPr lang="en-GB" sz="2434" b="0" i="0" u="none" strike="noStrike" cap="none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Ease of use</a:t>
            </a:r>
            <a:endParaRPr sz="2434" b="0" i="0" u="none" strike="noStrike" cap="none"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0" name="Google Shape;110;g3fa72f117da_0_1"/>
          <p:cNvSpPr/>
          <p:nvPr/>
        </p:nvSpPr>
        <p:spPr>
          <a:xfrm>
            <a:off x="2320005" y="4723577"/>
            <a:ext cx="6957000" cy="1056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FFFF"/>
          </a:solidFill>
          <a:ln w="1287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3600" tIns="123600" rIns="123600" bIns="123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4"/>
              <a:buFont typeface="Arial"/>
              <a:buNone/>
            </a:pPr>
            <a:r>
              <a:rPr lang="en-GB" sz="2434" b="0" i="0" u="none" strike="noStrike" cap="none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Degree of control</a:t>
            </a:r>
            <a:endParaRPr sz="2434" b="0" i="0" u="none" strike="noStrike" cap="none"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1" name="Google Shape;111;g3fa72f117da_0_1"/>
          <p:cNvSpPr txBox="1"/>
          <p:nvPr/>
        </p:nvSpPr>
        <p:spPr>
          <a:xfrm>
            <a:off x="3292165" y="1501218"/>
            <a:ext cx="12723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600" tIns="123600" rIns="123600" bIns="1236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811"/>
              </a:spcBef>
              <a:spcAft>
                <a:spcPts val="1352"/>
              </a:spcAft>
              <a:buClr>
                <a:srgbClr val="000000"/>
              </a:buClr>
              <a:buSzPts val="2704"/>
              <a:buFont typeface="Arial"/>
              <a:buNone/>
            </a:pPr>
            <a:r>
              <a:rPr lang="en-GB" sz="2704" b="0" i="0" u="none" strike="noStrike" cap="none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xia2</a:t>
            </a:r>
            <a:endParaRPr sz="2704" b="0" i="0" u="none" strike="noStrike" cap="none"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2" name="Google Shape;112;g3fa72f117da_0_1"/>
          <p:cNvSpPr txBox="1"/>
          <p:nvPr/>
        </p:nvSpPr>
        <p:spPr>
          <a:xfrm>
            <a:off x="3937736" y="2327931"/>
            <a:ext cx="1947000" cy="9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600" tIns="123600" rIns="123600" bIns="1236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811"/>
              </a:spcBef>
              <a:spcAft>
                <a:spcPts val="1352"/>
              </a:spcAft>
              <a:buClr>
                <a:srgbClr val="000000"/>
              </a:buClr>
              <a:buSzPts val="2704"/>
              <a:buFont typeface="Arial"/>
              <a:buNone/>
            </a:pPr>
            <a:r>
              <a:rPr lang="en-GB" sz="2704" b="0" i="0" u="none" strike="noStrike" cap="none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DUI2</a:t>
            </a:r>
            <a:endParaRPr sz="2704" b="0" i="0" u="none" strike="noStrike" cap="none"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3" name="Google Shape;113;g3fa72f117da_0_1"/>
          <p:cNvSpPr txBox="1"/>
          <p:nvPr/>
        </p:nvSpPr>
        <p:spPr>
          <a:xfrm>
            <a:off x="4123267" y="3022347"/>
            <a:ext cx="45000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600" tIns="123600" rIns="123600" bIns="12360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811"/>
              </a:spcBef>
              <a:spcAft>
                <a:spcPts val="1352"/>
              </a:spcAft>
              <a:buClr>
                <a:srgbClr val="000000"/>
              </a:buClr>
              <a:buSzPts val="2704"/>
              <a:buFont typeface="Arial"/>
              <a:buNone/>
            </a:pPr>
            <a:r>
              <a:rPr lang="en-GB" sz="2704" b="0" i="0" u="none" strike="noStrike" cap="none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Command line tools</a:t>
            </a:r>
            <a:endParaRPr sz="1893" b="0" i="0" u="none" strike="noStrike" cap="none"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4" name="Google Shape;114;g3fa72f117da_0_1"/>
          <p:cNvSpPr txBox="1"/>
          <p:nvPr/>
        </p:nvSpPr>
        <p:spPr>
          <a:xfrm>
            <a:off x="7500000" y="3732053"/>
            <a:ext cx="32721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600" tIns="123600" rIns="123600" bIns="1236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811"/>
              </a:spcBef>
              <a:spcAft>
                <a:spcPts val="1352"/>
              </a:spcAft>
              <a:buClr>
                <a:srgbClr val="000000"/>
              </a:buClr>
              <a:buSzPts val="2704"/>
              <a:buFont typeface="Arial"/>
              <a:buNone/>
            </a:pPr>
            <a:r>
              <a:rPr lang="en-GB" sz="2704" b="0" i="0" u="none" strike="noStrike" cap="none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Programmer's API</a:t>
            </a:r>
            <a:endParaRPr sz="1893" b="0" i="0" u="none" strike="noStrike" cap="none"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5" name="Google Shape;115;g3fa72f117da_0_1"/>
          <p:cNvSpPr txBox="1"/>
          <p:nvPr/>
        </p:nvSpPr>
        <p:spPr>
          <a:xfrm>
            <a:off x="311700" y="437300"/>
            <a:ext cx="115203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600" tIns="123600" rIns="123600" bIns="1236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6"/>
              <a:buFont typeface="Arial"/>
              <a:buNone/>
            </a:pPr>
            <a:r>
              <a:rPr lang="en-GB" sz="4056" b="0" i="0" u="none" strike="noStrike" cap="none">
                <a:solidFill>
                  <a:srgbClr val="0000FF"/>
                </a:solidFill>
                <a:latin typeface="Oswald"/>
                <a:ea typeface="Oswald"/>
                <a:cs typeface="Oswald"/>
                <a:sym typeface="Oswald"/>
              </a:rPr>
              <a:t>Levels of interaction with Dials</a:t>
            </a:r>
            <a:endParaRPr sz="4056" b="0" i="0" u="none" strike="noStrike" cap="none">
              <a:solidFill>
                <a:srgbClr val="0000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6" name="Google Shape;116;g3fa72f117da_0_1"/>
          <p:cNvSpPr/>
          <p:nvPr/>
        </p:nvSpPr>
        <p:spPr>
          <a:xfrm>
            <a:off x="3970250" y="2527537"/>
            <a:ext cx="1018200" cy="459600"/>
          </a:xfrm>
          <a:prstGeom prst="roundRect">
            <a:avLst>
              <a:gd name="adj" fmla="val 16667"/>
            </a:avLst>
          </a:prstGeom>
          <a:noFill/>
          <a:ln w="386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3600" tIns="123600" rIns="123600" bIns="1236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3"/>
              <a:buFont typeface="Arial"/>
              <a:buNone/>
            </a:pPr>
            <a:endParaRPr sz="1893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fa72f117da_0_1"/>
          <p:cNvSpPr/>
          <p:nvPr/>
        </p:nvSpPr>
        <p:spPr>
          <a:xfrm>
            <a:off x="5081327" y="2693677"/>
            <a:ext cx="930000" cy="208800"/>
          </a:xfrm>
          <a:prstGeom prst="leftArrow">
            <a:avLst>
              <a:gd name="adj1" fmla="val 50000"/>
              <a:gd name="adj2" fmla="val 50000"/>
            </a:avLst>
          </a:prstGeom>
          <a:noFill/>
          <a:ln w="386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3600" tIns="123600" rIns="123600" bIns="1236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3"/>
              <a:buFont typeface="Arial"/>
              <a:buNone/>
            </a:pPr>
            <a:endParaRPr sz="1893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6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4395150" y="746175"/>
            <a:ext cx="3024600" cy="7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91200" rIns="91200" bIns="912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1"/>
              <a:buFont typeface="Arial"/>
              <a:buNone/>
            </a:pP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What is DUI?</a:t>
            </a:r>
            <a:endParaRPr sz="35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7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465066" y="1273596"/>
            <a:ext cx="60093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91200" rIns="91200" bIns="912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1"/>
              <a:buFont typeface="Arial"/>
              <a:buNone/>
            </a:pPr>
            <a:r>
              <a:rPr lang="en-GB" sz="3591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rive </a:t>
            </a:r>
            <a:r>
              <a:rPr lang="en-GB" sz="3591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nder </a:t>
            </a:r>
            <a:r>
              <a:rPr lang="en-GB" sz="3591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nfluence</a:t>
            </a:r>
            <a:endParaRPr sz="35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4395150" y="746175"/>
            <a:ext cx="3024600" cy="7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91200" rIns="91200" bIns="912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1"/>
              <a:buFont typeface="Arial"/>
              <a:buNone/>
            </a:pP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What is DUI?</a:t>
            </a:r>
            <a:endParaRPr sz="35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8</a:t>
            </a:fld>
            <a:endParaRPr>
              <a:solidFill>
                <a:srgbClr val="0000FF"/>
              </a:solidFill>
            </a:endParaRPr>
          </a:p>
        </p:txBody>
      </p:sp>
      <p:pic>
        <p:nvPicPr>
          <p:cNvPr id="139" name="Google Shape;13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4771" y="2237468"/>
            <a:ext cx="4667290" cy="253241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 txBox="1"/>
          <p:nvPr/>
        </p:nvSpPr>
        <p:spPr>
          <a:xfrm>
            <a:off x="465066" y="1273596"/>
            <a:ext cx="60093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91200" rIns="91200" bIns="912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1"/>
              <a:buFont typeface="Arial"/>
              <a:buNone/>
            </a:pPr>
            <a:r>
              <a:rPr lang="en-GB" sz="3591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rive </a:t>
            </a:r>
            <a:r>
              <a:rPr lang="en-GB" sz="3591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nder </a:t>
            </a:r>
            <a:r>
              <a:rPr lang="en-GB" sz="3591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nfluence</a:t>
            </a:r>
            <a:endParaRPr sz="35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4395150" y="746175"/>
            <a:ext cx="3024600" cy="7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91200" rIns="91200" bIns="912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1"/>
              <a:buFont typeface="Arial"/>
              <a:buNone/>
            </a:pP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What is DUI?</a:t>
            </a:r>
            <a:endParaRPr sz="35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9</a:t>
            </a:fld>
            <a:endParaRPr>
              <a:solidFill>
                <a:srgbClr val="0000FF"/>
              </a:solidFill>
            </a:endParaRPr>
          </a:p>
        </p:txBody>
      </p:sp>
      <p:pic>
        <p:nvPicPr>
          <p:cNvPr id="148" name="Google Shape;14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4771" y="2237468"/>
            <a:ext cx="4667290" cy="253241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9"/>
          <p:cNvSpPr txBox="1"/>
          <p:nvPr/>
        </p:nvSpPr>
        <p:spPr>
          <a:xfrm>
            <a:off x="465066" y="1273596"/>
            <a:ext cx="60093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91200" rIns="91200" bIns="912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1"/>
              <a:buFont typeface="Arial"/>
              <a:buNone/>
            </a:pPr>
            <a:r>
              <a:rPr lang="en-GB" sz="3591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rive </a:t>
            </a:r>
            <a:r>
              <a:rPr lang="en-GB" sz="3591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nder </a:t>
            </a:r>
            <a:r>
              <a:rPr lang="en-GB" sz="3591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nfluence</a:t>
            </a:r>
            <a:endParaRPr sz="35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4395150" y="746175"/>
            <a:ext cx="3024600" cy="7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91200" rIns="91200" bIns="912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1"/>
              <a:buFont typeface="Arial"/>
              <a:buNone/>
            </a:pP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What is DUI?</a:t>
            </a:r>
            <a:endParaRPr sz="35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 rot="2700145">
            <a:off x="754771" y="667526"/>
            <a:ext cx="5037075" cy="5083532"/>
          </a:xfrm>
          <a:prstGeom prst="mathPlus">
            <a:avLst>
              <a:gd name="adj1" fmla="val 16977"/>
            </a:avLst>
          </a:prstGeom>
          <a:solidFill>
            <a:srgbClr val="FF000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10</a:t>
            </a:fld>
            <a:endParaRPr>
              <a:solidFill>
                <a:srgbClr val="0000FF"/>
              </a:solidFill>
            </a:endParaRPr>
          </a:p>
        </p:txBody>
      </p:sp>
      <p:pic>
        <p:nvPicPr>
          <p:cNvPr id="158" name="Google Shape;158;p10"/>
          <p:cNvPicPr preferRelativeResize="0"/>
          <p:nvPr/>
        </p:nvPicPr>
        <p:blipFill rotWithShape="1">
          <a:blip r:embed="rId3">
            <a:alphaModFix amt="18000"/>
          </a:blip>
          <a:srcRect/>
          <a:stretch/>
        </p:blipFill>
        <p:spPr>
          <a:xfrm>
            <a:off x="874771" y="2237468"/>
            <a:ext cx="4667290" cy="253241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0"/>
          <p:cNvSpPr txBox="1"/>
          <p:nvPr/>
        </p:nvSpPr>
        <p:spPr>
          <a:xfrm>
            <a:off x="4395150" y="746175"/>
            <a:ext cx="3024600" cy="7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91200" rIns="91200" bIns="912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1"/>
              <a:buFont typeface="Arial"/>
              <a:buNone/>
            </a:pP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What is DUI?</a:t>
            </a:r>
            <a:endParaRPr sz="35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 txBox="1"/>
          <p:nvPr/>
        </p:nvSpPr>
        <p:spPr>
          <a:xfrm>
            <a:off x="5623966" y="1283271"/>
            <a:ext cx="60093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91200" rIns="91200" bIns="912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1"/>
              <a:buFont typeface="Arial"/>
              <a:buNone/>
            </a:pPr>
            <a:r>
              <a:rPr lang="en-GB" sz="3591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ials </a:t>
            </a:r>
            <a:r>
              <a:rPr lang="en-GB" sz="3591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ser </a:t>
            </a:r>
            <a:r>
              <a:rPr lang="en-GB" sz="3591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nterface</a:t>
            </a:r>
            <a:endParaRPr sz="35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10" title="Screenshot_log_after_integrate_on_both_branche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3237" y="1885325"/>
            <a:ext cx="5693062" cy="4056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a72f117da_0_41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11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168" name="Google Shape;168;g3fa72f117da_0_41"/>
          <p:cNvSpPr txBox="1"/>
          <p:nvPr/>
        </p:nvSpPr>
        <p:spPr>
          <a:xfrm>
            <a:off x="4395150" y="237800"/>
            <a:ext cx="3024600" cy="7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91200" rIns="91200" bIns="912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1"/>
              <a:buFont typeface="Arial"/>
              <a:buNone/>
            </a:pP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What is DUI?</a:t>
            </a:r>
            <a:endParaRPr sz="35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fa72f117da_0_41"/>
          <p:cNvSpPr txBox="1"/>
          <p:nvPr/>
        </p:nvSpPr>
        <p:spPr>
          <a:xfrm>
            <a:off x="2907900" y="1158584"/>
            <a:ext cx="5999100" cy="10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91200" rIns="91200" bIns="912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1"/>
              <a:buFont typeface="Arial"/>
              <a:buNone/>
            </a:pPr>
            <a:r>
              <a:rPr lang="en-GB" sz="3591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ials </a:t>
            </a:r>
            <a:r>
              <a:rPr lang="en-GB" sz="3591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ser </a:t>
            </a:r>
            <a:r>
              <a:rPr lang="en-GB" sz="3591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nterface</a:t>
            </a:r>
            <a:endParaRPr sz="3591" b="1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1"/>
              <a:buFont typeface="Arial"/>
              <a:buNone/>
            </a:pPr>
            <a:endParaRPr sz="3591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g3fa72f117da_0_41" title="Screenshot_log_after_integrate_on_both_branche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0924" y="2038800"/>
            <a:ext cx="5693062" cy="4056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a72f117da_0_33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12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177" name="Google Shape;177;g3fa72f117da_0_33"/>
          <p:cNvSpPr txBox="1"/>
          <p:nvPr/>
        </p:nvSpPr>
        <p:spPr>
          <a:xfrm>
            <a:off x="4395150" y="237800"/>
            <a:ext cx="3024600" cy="7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91200" rIns="91200" bIns="912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1"/>
              <a:buFont typeface="Arial"/>
              <a:buNone/>
            </a:pP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What is DUI?</a:t>
            </a:r>
            <a:endParaRPr sz="3591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fa72f117da_0_33"/>
          <p:cNvSpPr txBox="1"/>
          <p:nvPr/>
        </p:nvSpPr>
        <p:spPr>
          <a:xfrm>
            <a:off x="2907900" y="1158584"/>
            <a:ext cx="5999100" cy="10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91200" rIns="91200" bIns="912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1"/>
              <a:buFont typeface="Arial"/>
              <a:buNone/>
            </a:pPr>
            <a:r>
              <a:rPr lang="en-GB" sz="3591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ials </a:t>
            </a:r>
            <a:r>
              <a:rPr lang="en-GB" sz="3591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ser </a:t>
            </a:r>
            <a:r>
              <a:rPr lang="en-GB" sz="3591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nterface</a:t>
            </a:r>
            <a:endParaRPr sz="3591" b="1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1"/>
              <a:buFont typeface="Arial"/>
              <a:buNone/>
            </a:pPr>
            <a:r>
              <a:rPr lang="en-GB" sz="3591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Version </a:t>
            </a:r>
            <a:r>
              <a:rPr lang="en-GB" sz="3591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3591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g3fa72f117da_0_33" title="Screenshot_log_after_integrate_on_both_branche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0924" y="2038800"/>
            <a:ext cx="5693062" cy="4056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13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548640" y="68580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3000"/>
              <a:buFont typeface="Cambria"/>
              <a:buNone/>
            </a:pPr>
            <a:r>
              <a:rPr lang="en-GB" sz="30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Why reach for Dui2?</a:t>
            </a:r>
            <a:endParaRPr sz="30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 txBox="1"/>
          <p:nvPr/>
        </p:nvSpPr>
        <p:spPr>
          <a:xfrm>
            <a:off x="548640" y="1407299"/>
            <a:ext cx="110643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900"/>
              <a:buFont typeface="Calibri"/>
              <a:buNone/>
            </a:pPr>
            <a:r>
              <a:rPr lang="en-GB" sz="19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Dui2 processes a single data set through DIALS with a graphical interface — an alternative to Xia2 for when you want direct, hands-on control over every DIALS command, rather than running from the command line.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548640" y="2687459"/>
            <a:ext cx="3612000" cy="3110003"/>
          </a:xfrm>
          <a:prstGeom prst="roundRect">
            <a:avLst>
              <a:gd name="adj" fmla="val 3380"/>
            </a:avLst>
          </a:prstGeom>
          <a:solidFill>
            <a:srgbClr val="F4F8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868680" y="2980067"/>
            <a:ext cx="567000" cy="567000"/>
          </a:xfrm>
          <a:prstGeom prst="ellipse">
            <a:avLst/>
          </a:prstGeom>
          <a:solidFill>
            <a:srgbClr val="C696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12" descr="assets/iconw_co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381" y="3053768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2"/>
          <p:cNvSpPr txBox="1"/>
          <p:nvPr/>
        </p:nvSpPr>
        <p:spPr>
          <a:xfrm>
            <a:off x="868680" y="3693299"/>
            <a:ext cx="2971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900"/>
              <a:buFont typeface="Cambria"/>
              <a:buNone/>
            </a:pPr>
            <a:r>
              <a:rPr lang="en-GB" sz="19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Full command control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868680" y="4287659"/>
            <a:ext cx="297180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Step through import, find spots, index, refine, integrate and more — each one a DIALS command you configure and run yourself.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4334256" y="2687459"/>
            <a:ext cx="3612000" cy="3110003"/>
          </a:xfrm>
          <a:prstGeom prst="roundRect">
            <a:avLst>
              <a:gd name="adj" fmla="val 3380"/>
            </a:avLst>
          </a:prstGeom>
          <a:solidFill>
            <a:srgbClr val="F4F8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4654296" y="2980067"/>
            <a:ext cx="567000" cy="567000"/>
          </a:xfrm>
          <a:prstGeom prst="ellipse">
            <a:avLst/>
          </a:prstGeom>
          <a:solidFill>
            <a:srgbClr val="C696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12" descr="assets/iconw_search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7997" y="3053768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2"/>
          <p:cNvSpPr txBox="1"/>
          <p:nvPr/>
        </p:nvSpPr>
        <p:spPr>
          <a:xfrm>
            <a:off x="4654296" y="3693299"/>
            <a:ext cx="2971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900"/>
              <a:buFont typeface="Cambria"/>
              <a:buNone/>
            </a:pPr>
            <a:r>
              <a:rPr lang="en-GB" sz="19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When Xia2 struggles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4654296" y="4287659"/>
            <a:ext cx="297180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Users often turn to Dui2 when Xia2 hits problems or fails to complete — it lets you diagnose and steer processing directly.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8119872" y="2687459"/>
            <a:ext cx="3612000" cy="3110003"/>
          </a:xfrm>
          <a:prstGeom prst="roundRect">
            <a:avLst>
              <a:gd name="adj" fmla="val 3380"/>
            </a:avLst>
          </a:prstGeom>
          <a:solidFill>
            <a:srgbClr val="F4F8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8439912" y="2980067"/>
            <a:ext cx="567000" cy="567000"/>
          </a:xfrm>
          <a:prstGeom prst="ellipse">
            <a:avLst/>
          </a:prstGeom>
          <a:solidFill>
            <a:srgbClr val="C696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12" descr="assets/iconw_boo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13613" y="3053768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2"/>
          <p:cNvSpPr txBox="1"/>
          <p:nvPr/>
        </p:nvSpPr>
        <p:spPr>
          <a:xfrm>
            <a:off x="8439912" y="3693299"/>
            <a:ext cx="2971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900"/>
              <a:buFont typeface="Cambria"/>
              <a:buNone/>
            </a:pPr>
            <a:r>
              <a:rPr lang="en-GB" sz="19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A gentle on-ramp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8502542" y="4256344"/>
            <a:ext cx="2909170" cy="116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This walkthrough introduces the basic steps using a simple example, before tackling more complex scenarios.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14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548640" y="365760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961F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GETTING STARTED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548640" y="68580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3000"/>
              <a:buFont typeface="Cambria"/>
              <a:buNone/>
            </a:pPr>
            <a:r>
              <a:rPr lang="en-GB" sz="30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Importing the dataset</a:t>
            </a:r>
            <a:endParaRPr sz="30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548640" y="1783080"/>
            <a:ext cx="11064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900"/>
              <a:buFont typeface="Calibri"/>
              <a:buNone/>
            </a:pPr>
            <a:r>
              <a:rPr lang="en-GB" sz="19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Every Dui2 session begins the same way — bring your images in, then let DIALS build the geometry model.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548640" y="2606040"/>
            <a:ext cx="3612000" cy="2331600"/>
          </a:xfrm>
          <a:prstGeom prst="roundRect">
            <a:avLst>
              <a:gd name="adj" fmla="val 4706"/>
            </a:avLst>
          </a:prstGeom>
          <a:solidFill>
            <a:srgbClr val="F4F8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822960" y="2880360"/>
            <a:ext cx="502800" cy="502800"/>
          </a:xfrm>
          <a:prstGeom prst="ellipse">
            <a:avLst/>
          </a:prstGeom>
          <a:solidFill>
            <a:srgbClr val="152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3"/>
          <p:cNvSpPr txBox="1"/>
          <p:nvPr/>
        </p:nvSpPr>
        <p:spPr>
          <a:xfrm>
            <a:off x="822960" y="288036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lang="en-GB" sz="20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0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 txBox="1"/>
          <p:nvPr/>
        </p:nvSpPr>
        <p:spPr>
          <a:xfrm>
            <a:off x="1508760" y="2898648"/>
            <a:ext cx="2423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Open images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 txBox="1"/>
          <p:nvPr/>
        </p:nvSpPr>
        <p:spPr>
          <a:xfrm>
            <a:off x="822960" y="3566160"/>
            <a:ext cx="30633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Click “Open images” on the left panel.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4334256" y="2606040"/>
            <a:ext cx="3612000" cy="2331600"/>
          </a:xfrm>
          <a:prstGeom prst="roundRect">
            <a:avLst>
              <a:gd name="adj" fmla="val 4706"/>
            </a:avLst>
          </a:prstGeom>
          <a:solidFill>
            <a:srgbClr val="F4F8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4608576" y="2880360"/>
            <a:ext cx="502800" cy="502800"/>
          </a:xfrm>
          <a:prstGeom prst="ellipse">
            <a:avLst/>
          </a:prstGeom>
          <a:solidFill>
            <a:srgbClr val="152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3"/>
          <p:cNvSpPr txBox="1"/>
          <p:nvPr/>
        </p:nvSpPr>
        <p:spPr>
          <a:xfrm>
            <a:off x="4608576" y="288036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lang="en-GB" sz="20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0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 txBox="1"/>
          <p:nvPr/>
        </p:nvSpPr>
        <p:spPr>
          <a:xfrm>
            <a:off x="5294376" y="2898648"/>
            <a:ext cx="2423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Select a file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 txBox="1"/>
          <p:nvPr/>
        </p:nvSpPr>
        <p:spPr>
          <a:xfrm>
            <a:off x="4608576" y="3566160"/>
            <a:ext cx="30633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Choose any single image from your dataset.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8119872" y="2606040"/>
            <a:ext cx="3612000" cy="2331600"/>
          </a:xfrm>
          <a:prstGeom prst="roundRect">
            <a:avLst>
              <a:gd name="adj" fmla="val 4706"/>
            </a:avLst>
          </a:prstGeom>
          <a:solidFill>
            <a:srgbClr val="152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8394192" y="2880360"/>
            <a:ext cx="502800" cy="502800"/>
          </a:xfrm>
          <a:prstGeom prst="ellipse">
            <a:avLst/>
          </a:prstGeom>
          <a:solidFill>
            <a:srgbClr val="C696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"/>
          <p:cNvSpPr txBox="1"/>
          <p:nvPr/>
        </p:nvSpPr>
        <p:spPr>
          <a:xfrm>
            <a:off x="8394192" y="288036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2000"/>
              <a:buFont typeface="Cambria"/>
              <a:buNone/>
            </a:pPr>
            <a:r>
              <a:rPr lang="en-GB" sz="20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0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 txBox="1"/>
          <p:nvPr/>
        </p:nvSpPr>
        <p:spPr>
          <a:xfrm>
            <a:off x="9079992" y="2898648"/>
            <a:ext cx="2423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Run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 txBox="1"/>
          <p:nvPr/>
        </p:nvSpPr>
        <p:spPr>
          <a:xfrm>
            <a:off x="8394192" y="3566160"/>
            <a:ext cx="30633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DEE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Click “Run” — the button with the DIALS logo.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548640" y="5166360"/>
            <a:ext cx="11091600" cy="1051500"/>
          </a:xfrm>
          <a:prstGeom prst="roundRect">
            <a:avLst>
              <a:gd name="adj" fmla="val 8696"/>
            </a:avLst>
          </a:prstGeom>
          <a:solidFill>
            <a:srgbClr val="FBF2DE"/>
          </a:solidFill>
          <a:ln w="12700" cap="flat" cmpd="sng">
            <a:solidFill>
              <a:srgbClr val="C696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3"/>
          <p:cNvSpPr txBox="1"/>
          <p:nvPr/>
        </p:nvSpPr>
        <p:spPr>
          <a:xfrm>
            <a:off x="822960" y="5303520"/>
            <a:ext cx="10515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5A0A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This triggers the first DIALS command in the “import” node. Dui2 then walks you through the same four-step pattern for every subsequent command in the processing graph.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15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235" name="Google Shape;235;p14"/>
          <p:cNvSpPr txBox="1"/>
          <p:nvPr/>
        </p:nvSpPr>
        <p:spPr>
          <a:xfrm>
            <a:off x="548640" y="365760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961F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THE CORE PATTERN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 txBox="1"/>
          <p:nvPr/>
        </p:nvSpPr>
        <p:spPr>
          <a:xfrm>
            <a:off x="548640" y="68580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3000"/>
              <a:buFont typeface="Cambria"/>
              <a:buNone/>
            </a:pPr>
            <a:r>
              <a:rPr lang="en-GB" sz="30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The four-step processing loop</a:t>
            </a:r>
            <a:endParaRPr sz="30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4"/>
          <p:cNvSpPr txBox="1"/>
          <p:nvPr/>
        </p:nvSpPr>
        <p:spPr>
          <a:xfrm>
            <a:off x="548640" y="1595190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900"/>
              <a:buFont typeface="Calibri"/>
              <a:buNone/>
            </a:pPr>
            <a:r>
              <a:rPr lang="en-GB" sz="19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Once importing is done, every subsequent DIALS command in Dui2 follows the same repeating pattern — shown here for the “find spots” node.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493776" y="2244414"/>
            <a:ext cx="5468100" cy="3163776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 cap="flat" cmpd="sng">
            <a:solidFill>
              <a:srgbClr val="D7E1E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A2233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14" descr="assets/image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2299278"/>
            <a:ext cx="5358382" cy="305409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4"/>
          <p:cNvSpPr txBox="1"/>
          <p:nvPr/>
        </p:nvSpPr>
        <p:spPr>
          <a:xfrm>
            <a:off x="548640" y="5481390"/>
            <a:ext cx="5440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Calibri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The Dui2 interface, annotated with the four-step pattern.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6355080" y="2299278"/>
            <a:ext cx="438900" cy="438900"/>
          </a:xfrm>
          <a:prstGeom prst="ellipse">
            <a:avLst/>
          </a:prstGeom>
          <a:solidFill>
            <a:srgbClr val="C696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4"/>
          <p:cNvSpPr txBox="1"/>
          <p:nvPr/>
        </p:nvSpPr>
        <p:spPr>
          <a:xfrm>
            <a:off x="6355080" y="229927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700"/>
              <a:buFont typeface="Cambr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 txBox="1"/>
          <p:nvPr/>
        </p:nvSpPr>
        <p:spPr>
          <a:xfrm>
            <a:off x="6922008" y="2271846"/>
            <a:ext cx="4736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Select a command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 txBox="1"/>
          <p:nvPr/>
        </p:nvSpPr>
        <p:spPr>
          <a:xfrm>
            <a:off x="6922008" y="2665038"/>
            <a:ext cx="4736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Pick a button in the command column (top left).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6355080" y="3149670"/>
            <a:ext cx="438900" cy="438900"/>
          </a:xfrm>
          <a:prstGeom prst="ellipse">
            <a:avLst/>
          </a:prstGeom>
          <a:solidFill>
            <a:srgbClr val="C696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6355080" y="314967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700"/>
              <a:buFont typeface="Cambr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 txBox="1"/>
          <p:nvPr/>
        </p:nvSpPr>
        <p:spPr>
          <a:xfrm>
            <a:off x="6922008" y="3122238"/>
            <a:ext cx="4736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Adjust parameters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6922008" y="3515430"/>
            <a:ext cx="4736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Edit values in the Simple or Advanced tabs.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6355080" y="4000062"/>
            <a:ext cx="438900" cy="438900"/>
          </a:xfrm>
          <a:prstGeom prst="ellipse">
            <a:avLst/>
          </a:prstGeom>
          <a:solidFill>
            <a:srgbClr val="C696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4"/>
          <p:cNvSpPr txBox="1"/>
          <p:nvPr/>
        </p:nvSpPr>
        <p:spPr>
          <a:xfrm>
            <a:off x="6355080" y="4000062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700"/>
              <a:buFont typeface="Cambr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 txBox="1"/>
          <p:nvPr/>
        </p:nvSpPr>
        <p:spPr>
          <a:xfrm>
            <a:off x="6922008" y="3972630"/>
            <a:ext cx="4736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Execute the command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6922008" y="4365822"/>
            <a:ext cx="4736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Click “Run” and wait for it to finish.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6355080" y="4850454"/>
            <a:ext cx="438900" cy="438900"/>
          </a:xfrm>
          <a:prstGeom prst="ellipse">
            <a:avLst/>
          </a:prstGeom>
          <a:solidFill>
            <a:srgbClr val="C696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4"/>
          <p:cNvSpPr txBox="1"/>
          <p:nvPr/>
        </p:nvSpPr>
        <p:spPr>
          <a:xfrm>
            <a:off x="6355080" y="4850454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700"/>
              <a:buFont typeface="Cambr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 txBox="1"/>
          <p:nvPr/>
        </p:nvSpPr>
        <p:spPr>
          <a:xfrm>
            <a:off x="6922008" y="4823022"/>
            <a:ext cx="4736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Review the output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 txBox="1"/>
          <p:nvPr/>
        </p:nvSpPr>
        <p:spPr>
          <a:xfrm>
            <a:off x="6922008" y="5216214"/>
            <a:ext cx="4736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Check the Log/Report/Image tabs, then repeat.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 txBox="1"/>
          <p:nvPr/>
        </p:nvSpPr>
        <p:spPr>
          <a:xfrm>
            <a:off x="6355080" y="5728278"/>
            <a:ext cx="5303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Calibri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↻  loops back to step 1 until you're happy with the result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16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264" name="Google Shape;264;p15"/>
          <p:cNvSpPr txBox="1"/>
          <p:nvPr/>
        </p:nvSpPr>
        <p:spPr>
          <a:xfrm>
            <a:off x="548640" y="365760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961F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EXPLORING ALTERNATIVES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 txBox="1"/>
          <p:nvPr/>
        </p:nvSpPr>
        <p:spPr>
          <a:xfrm>
            <a:off x="548640" y="68580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3000"/>
              <a:buFont typeface="Cambria"/>
              <a:buNone/>
            </a:pPr>
            <a:r>
              <a:rPr lang="en-GB" sz="30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Branching with </a:t>
            </a:r>
            <a:r>
              <a:rPr lang="en-GB" sz="3000" b="1" i="1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Clone</a:t>
            </a:r>
            <a:endParaRPr sz="3000" b="0" i="1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 txBox="1"/>
          <p:nvPr/>
        </p:nvSpPr>
        <p:spPr>
          <a:xfrm>
            <a:off x="548640" y="1532559"/>
            <a:ext cx="110643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900"/>
              <a:buFont typeface="Calibri"/>
              <a:buNone/>
            </a:pPr>
            <a:r>
              <a:rPr lang="en-GB" sz="19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Not happy with a result? Fork the workflow instead of overwriting it — Dui2 keeps every branch and node accessible for review or further editing at any time.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746217" y="2820063"/>
            <a:ext cx="1920300" cy="979200"/>
          </a:xfrm>
          <a:prstGeom prst="roundRect">
            <a:avLst>
              <a:gd name="adj" fmla="val 11765"/>
            </a:avLst>
          </a:prstGeom>
          <a:solidFill>
            <a:srgbClr val="152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5"/>
          <p:cNvSpPr txBox="1"/>
          <p:nvPr/>
        </p:nvSpPr>
        <p:spPr>
          <a:xfrm>
            <a:off x="837667" y="2896805"/>
            <a:ext cx="17373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Original node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(unsatisfying result)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3672317" y="2820063"/>
            <a:ext cx="2194500" cy="979200"/>
          </a:xfrm>
          <a:prstGeom prst="roundRect">
            <a:avLst>
              <a:gd name="adj" fmla="val 11765"/>
            </a:avLst>
          </a:prstGeom>
          <a:solidFill>
            <a:srgbClr val="C696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5"/>
          <p:cNvSpPr txBox="1"/>
          <p:nvPr/>
        </p:nvSpPr>
        <p:spPr>
          <a:xfrm>
            <a:off x="3763747" y="2896805"/>
            <a:ext cx="2011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7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Click “Clone”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15"/>
          <p:cNvCxnSpPr/>
          <p:nvPr/>
        </p:nvCxnSpPr>
        <p:spPr>
          <a:xfrm>
            <a:off x="2666467" y="3285425"/>
            <a:ext cx="1005900" cy="0"/>
          </a:xfrm>
          <a:prstGeom prst="straightConnector1">
            <a:avLst/>
          </a:prstGeom>
          <a:noFill/>
          <a:ln w="25400" cap="flat" cmpd="sng">
            <a:solidFill>
              <a:srgbClr val="15223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2" name="Google Shape;272;p15"/>
          <p:cNvSpPr/>
          <p:nvPr/>
        </p:nvSpPr>
        <p:spPr>
          <a:xfrm>
            <a:off x="6524851" y="2172639"/>
            <a:ext cx="1920300" cy="777300"/>
          </a:xfrm>
          <a:prstGeom prst="roundRect">
            <a:avLst>
              <a:gd name="adj" fmla="val 11765"/>
            </a:avLst>
          </a:prstGeom>
          <a:solidFill>
            <a:srgbClr val="F4F8FB"/>
          </a:solidFill>
          <a:ln w="12700" cap="flat" cmpd="sng">
            <a:solidFill>
              <a:srgbClr val="C9DD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5"/>
          <p:cNvSpPr txBox="1"/>
          <p:nvPr/>
        </p:nvSpPr>
        <p:spPr>
          <a:xfrm>
            <a:off x="6616291" y="2172639"/>
            <a:ext cx="17373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Sibling A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new parameters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6524851" y="3681399"/>
            <a:ext cx="1920300" cy="777300"/>
          </a:xfrm>
          <a:prstGeom prst="roundRect">
            <a:avLst>
              <a:gd name="adj" fmla="val 11765"/>
            </a:avLst>
          </a:prstGeom>
          <a:solidFill>
            <a:srgbClr val="F4F8FB"/>
          </a:solidFill>
          <a:ln w="12700" cap="flat" cmpd="sng">
            <a:solidFill>
              <a:srgbClr val="C9DD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5"/>
          <p:cNvSpPr txBox="1"/>
          <p:nvPr/>
        </p:nvSpPr>
        <p:spPr>
          <a:xfrm>
            <a:off x="6616291" y="3681399"/>
            <a:ext cx="17373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Sibling B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new parameters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15"/>
          <p:cNvCxnSpPr/>
          <p:nvPr/>
        </p:nvCxnSpPr>
        <p:spPr>
          <a:xfrm rot="10800000" flipH="1">
            <a:off x="6260123" y="2541159"/>
            <a:ext cx="600" cy="705900"/>
          </a:xfrm>
          <a:prstGeom prst="straightConnector1">
            <a:avLst/>
          </a:prstGeom>
          <a:noFill/>
          <a:ln w="25400" cap="flat" cmpd="sng">
            <a:solidFill>
              <a:srgbClr val="1522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7" name="Google Shape;277;p15"/>
          <p:cNvCxnSpPr/>
          <p:nvPr/>
        </p:nvCxnSpPr>
        <p:spPr>
          <a:xfrm>
            <a:off x="6260123" y="2538399"/>
            <a:ext cx="274200" cy="0"/>
          </a:xfrm>
          <a:prstGeom prst="straightConnector1">
            <a:avLst/>
          </a:prstGeom>
          <a:noFill/>
          <a:ln w="25400" cap="flat" cmpd="sng">
            <a:solidFill>
              <a:srgbClr val="15223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8" name="Google Shape;278;p15"/>
          <p:cNvCxnSpPr/>
          <p:nvPr/>
        </p:nvCxnSpPr>
        <p:spPr>
          <a:xfrm>
            <a:off x="6260123" y="3247059"/>
            <a:ext cx="0" cy="822900"/>
          </a:xfrm>
          <a:prstGeom prst="straightConnector1">
            <a:avLst/>
          </a:prstGeom>
          <a:noFill/>
          <a:ln w="25400" cap="flat" cmpd="sng">
            <a:solidFill>
              <a:srgbClr val="1522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9" name="Google Shape;279;p15"/>
          <p:cNvCxnSpPr/>
          <p:nvPr/>
        </p:nvCxnSpPr>
        <p:spPr>
          <a:xfrm>
            <a:off x="6260123" y="4065447"/>
            <a:ext cx="274200" cy="0"/>
          </a:xfrm>
          <a:prstGeom prst="straightConnector1">
            <a:avLst/>
          </a:prstGeom>
          <a:noFill/>
          <a:ln w="25400" cap="flat" cmpd="sng">
            <a:solidFill>
              <a:srgbClr val="15223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0" name="Google Shape;280;p15"/>
          <p:cNvSpPr/>
          <p:nvPr/>
        </p:nvSpPr>
        <p:spPr>
          <a:xfrm>
            <a:off x="548640" y="5007279"/>
            <a:ext cx="11091600" cy="1051500"/>
          </a:xfrm>
          <a:prstGeom prst="roundRect">
            <a:avLst>
              <a:gd name="adj" fmla="val 8696"/>
            </a:avLst>
          </a:prstGeom>
          <a:solidFill>
            <a:srgbClr val="F4F8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5"/>
          <p:cNvSpPr txBox="1"/>
          <p:nvPr/>
        </p:nvSpPr>
        <p:spPr>
          <a:xfrm>
            <a:off x="822960" y="5162727"/>
            <a:ext cx="10515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7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Modify the parameters and click “Run” again — Dui2 creates a sibling node so you can explore an alternative processing path without losing the original.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15"/>
          <p:cNvCxnSpPr>
            <a:cxnSpLocks/>
          </p:cNvCxnSpPr>
          <p:nvPr/>
        </p:nvCxnSpPr>
        <p:spPr>
          <a:xfrm rot="10800000" flipH="1">
            <a:off x="5866817" y="3300363"/>
            <a:ext cx="378300" cy="9300"/>
          </a:xfrm>
          <a:prstGeom prst="straightConnector1">
            <a:avLst/>
          </a:prstGeom>
          <a:noFill/>
          <a:ln w="25400" cap="flat" cmpd="sng">
            <a:solidFill>
              <a:srgbClr val="15223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17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289" name="Google Shape;289;p17"/>
          <p:cNvSpPr txBox="1"/>
          <p:nvPr/>
        </p:nvSpPr>
        <p:spPr>
          <a:xfrm>
            <a:off x="548640" y="365760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961F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THE CORE IDEA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 txBox="1"/>
          <p:nvPr/>
        </p:nvSpPr>
        <p:spPr>
          <a:xfrm>
            <a:off x="548640" y="68580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3000"/>
              <a:buFont typeface="Cambria"/>
              <a:buNone/>
            </a:pPr>
            <a:r>
              <a:rPr lang="en-GB" sz="30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A tree of processing steps</a:t>
            </a:r>
            <a:endParaRPr sz="30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 txBox="1"/>
          <p:nvPr/>
        </p:nvSpPr>
        <p:spPr>
          <a:xfrm>
            <a:off x="548640" y="1574313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900"/>
              <a:buFont typeface="Calibri"/>
              <a:buNone/>
            </a:pPr>
            <a:r>
              <a:rPr lang="en-GB" sz="19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Every DIALS command you run in Dui2 creates a new node in a tree. Click any node to jump back to that point and continue — or fork the tree to try a different path without losing what you already have.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548640" y="2808753"/>
            <a:ext cx="1737300" cy="658500"/>
          </a:xfrm>
          <a:prstGeom prst="roundRect">
            <a:avLst>
              <a:gd name="adj" fmla="val 13889"/>
            </a:avLst>
          </a:prstGeom>
          <a:solidFill>
            <a:srgbClr val="152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548640" y="2808753"/>
            <a:ext cx="1737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root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17"/>
          <p:cNvCxnSpPr/>
          <p:nvPr/>
        </p:nvCxnSpPr>
        <p:spPr>
          <a:xfrm>
            <a:off x="2286000" y="3137937"/>
            <a:ext cx="228600" cy="0"/>
          </a:xfrm>
          <a:prstGeom prst="straightConnector1">
            <a:avLst/>
          </a:prstGeom>
          <a:noFill/>
          <a:ln w="25400" cap="flat" cmpd="sng">
            <a:solidFill>
              <a:srgbClr val="15223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95" name="Google Shape;295;p17"/>
          <p:cNvSpPr/>
          <p:nvPr/>
        </p:nvSpPr>
        <p:spPr>
          <a:xfrm>
            <a:off x="2514600" y="2808753"/>
            <a:ext cx="1737300" cy="658500"/>
          </a:xfrm>
          <a:prstGeom prst="roundRect">
            <a:avLst>
              <a:gd name="adj" fmla="val 13889"/>
            </a:avLst>
          </a:prstGeom>
          <a:solidFill>
            <a:srgbClr val="152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7"/>
          <p:cNvSpPr txBox="1"/>
          <p:nvPr/>
        </p:nvSpPr>
        <p:spPr>
          <a:xfrm>
            <a:off x="2514600" y="2808753"/>
            <a:ext cx="1737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17"/>
          <p:cNvCxnSpPr/>
          <p:nvPr/>
        </p:nvCxnSpPr>
        <p:spPr>
          <a:xfrm>
            <a:off x="4251960" y="3137937"/>
            <a:ext cx="228600" cy="0"/>
          </a:xfrm>
          <a:prstGeom prst="straightConnector1">
            <a:avLst/>
          </a:prstGeom>
          <a:noFill/>
          <a:ln w="25400" cap="flat" cmpd="sng">
            <a:solidFill>
              <a:srgbClr val="15223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98" name="Google Shape;298;p17"/>
          <p:cNvSpPr/>
          <p:nvPr/>
        </p:nvSpPr>
        <p:spPr>
          <a:xfrm>
            <a:off x="4480560" y="2808753"/>
            <a:ext cx="1737300" cy="658500"/>
          </a:xfrm>
          <a:prstGeom prst="roundRect">
            <a:avLst>
              <a:gd name="adj" fmla="val 13889"/>
            </a:avLst>
          </a:prstGeom>
          <a:solidFill>
            <a:srgbClr val="152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7"/>
          <p:cNvSpPr txBox="1"/>
          <p:nvPr/>
        </p:nvSpPr>
        <p:spPr>
          <a:xfrm>
            <a:off x="4480560" y="2808753"/>
            <a:ext cx="1737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find_spots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17"/>
          <p:cNvCxnSpPr/>
          <p:nvPr/>
        </p:nvCxnSpPr>
        <p:spPr>
          <a:xfrm>
            <a:off x="6217920" y="3346704"/>
            <a:ext cx="228600" cy="0"/>
          </a:xfrm>
          <a:prstGeom prst="straightConnector1">
            <a:avLst/>
          </a:prstGeom>
          <a:noFill/>
          <a:ln w="25400" cap="flat" cmpd="sng">
            <a:solidFill>
              <a:srgbClr val="15223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1" name="Google Shape;301;p17"/>
          <p:cNvSpPr/>
          <p:nvPr/>
        </p:nvSpPr>
        <p:spPr>
          <a:xfrm>
            <a:off x="6446520" y="3017520"/>
            <a:ext cx="1737300" cy="658500"/>
          </a:xfrm>
          <a:prstGeom prst="roundRect">
            <a:avLst>
              <a:gd name="adj" fmla="val 13889"/>
            </a:avLst>
          </a:prstGeom>
          <a:solidFill>
            <a:srgbClr val="C696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7"/>
          <p:cNvSpPr txBox="1"/>
          <p:nvPr/>
        </p:nvSpPr>
        <p:spPr>
          <a:xfrm>
            <a:off x="6446520" y="3017520"/>
            <a:ext cx="1737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600"/>
              <a:buFont typeface="Courier New"/>
              <a:buNone/>
            </a:pPr>
            <a:r>
              <a:rPr lang="en-GB" sz="1800" b="1" i="0" u="none" strike="noStrike" cap="non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endParaRPr sz="18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6998677" y="3815222"/>
            <a:ext cx="2011800" cy="658500"/>
          </a:xfrm>
          <a:prstGeom prst="roundRect">
            <a:avLst>
              <a:gd name="adj" fmla="val 13889"/>
            </a:avLst>
          </a:prstGeom>
          <a:solidFill>
            <a:srgbClr val="F4F8FB"/>
          </a:solidFill>
          <a:ln w="12700" cap="flat" cmpd="sng">
            <a:solidFill>
              <a:srgbClr val="C9DD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7"/>
          <p:cNvSpPr txBox="1"/>
          <p:nvPr/>
        </p:nvSpPr>
        <p:spPr>
          <a:xfrm>
            <a:off x="6998677" y="3815222"/>
            <a:ext cx="20118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500"/>
              <a:buFont typeface="Courier New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index (retry)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17"/>
          <p:cNvCxnSpPr/>
          <p:nvPr/>
        </p:nvCxnSpPr>
        <p:spPr>
          <a:xfrm>
            <a:off x="5349240" y="3467121"/>
            <a:ext cx="3900" cy="460200"/>
          </a:xfrm>
          <a:prstGeom prst="straightConnector1">
            <a:avLst/>
          </a:prstGeom>
          <a:noFill/>
          <a:ln w="25400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6" name="Google Shape;306;p17"/>
          <p:cNvCxnSpPr/>
          <p:nvPr/>
        </p:nvCxnSpPr>
        <p:spPr>
          <a:xfrm>
            <a:off x="5349240" y="3931035"/>
            <a:ext cx="1600200" cy="0"/>
          </a:xfrm>
          <a:prstGeom prst="straightConnector1">
            <a:avLst/>
          </a:prstGeom>
          <a:noFill/>
          <a:ln w="25400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7" name="Google Shape;307;p17"/>
          <p:cNvSpPr txBox="1"/>
          <p:nvPr/>
        </p:nvSpPr>
        <p:spPr>
          <a:xfrm>
            <a:off x="548640" y="4500393"/>
            <a:ext cx="78639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Calibri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Clicking “Clone” on an earlier node forks a sibling — a second attempt with different parameters, sitting right alongside the first.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548640" y="5337758"/>
            <a:ext cx="9682422" cy="717115"/>
          </a:xfrm>
          <a:prstGeom prst="roundRect">
            <a:avLst>
              <a:gd name="adj" fmla="val 13333"/>
            </a:avLst>
          </a:prstGeom>
          <a:solidFill>
            <a:srgbClr val="FBF2DE"/>
          </a:solidFill>
          <a:ln w="12700" cap="flat" cmpd="sng">
            <a:solidFill>
              <a:srgbClr val="C696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7"/>
          <p:cNvSpPr txBox="1"/>
          <p:nvPr/>
        </p:nvSpPr>
        <p:spPr>
          <a:xfrm>
            <a:off x="822960" y="5369073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A0A"/>
              </a:buClr>
              <a:buSzPts val="1700"/>
              <a:buFont typeface="Calibri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The rest of this deck walks through a typical session, node by node.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a7e4a8881_0_45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18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316" name="Google Shape;316;g3fa7e4a8881_0_45"/>
          <p:cNvSpPr txBox="1"/>
          <p:nvPr/>
        </p:nvSpPr>
        <p:spPr>
          <a:xfrm>
            <a:off x="822960" y="1348636"/>
            <a:ext cx="9601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961F"/>
              </a:buClr>
              <a:buSzPts val="17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DUI2 WIKI · HOME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fa7e4a8881_0_45"/>
          <p:cNvSpPr txBox="1"/>
          <p:nvPr/>
        </p:nvSpPr>
        <p:spPr>
          <a:xfrm>
            <a:off x="777240" y="1732684"/>
            <a:ext cx="100584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lang="en-GB" sz="54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Usage Workflow (ideal case)</a:t>
            </a:r>
            <a:endParaRPr sz="54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fa7e4a8881_0_45"/>
          <p:cNvSpPr txBox="1"/>
          <p:nvPr/>
        </p:nvSpPr>
        <p:spPr>
          <a:xfrm>
            <a:off x="822949" y="2765961"/>
            <a:ext cx="9786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DEE"/>
              </a:buClr>
              <a:buSzPts val="2000"/>
              <a:buFont typeface="Calibri"/>
              <a:buNone/>
            </a:pPr>
            <a:r>
              <a:rPr lang="en-GB" sz="20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 typical DUI2 session, node by node — from launching the app to a scaled, merged MTZ.</a:t>
            </a:r>
            <a:endParaRPr sz="20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g3fa7e4a8881_0_45"/>
          <p:cNvCxnSpPr/>
          <p:nvPr/>
        </p:nvCxnSpPr>
        <p:spPr>
          <a:xfrm>
            <a:off x="822960" y="3497476"/>
            <a:ext cx="10058400" cy="0"/>
          </a:xfrm>
          <a:prstGeom prst="straightConnector1">
            <a:avLst/>
          </a:prstGeom>
          <a:noFill/>
          <a:ln w="12700" cap="flat" cmpd="sng">
            <a:solidFill>
              <a:srgbClr val="35455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0" name="Google Shape;320;g3fa7e4a8881_0_45"/>
          <p:cNvSpPr txBox="1"/>
          <p:nvPr/>
        </p:nvSpPr>
        <p:spPr>
          <a:xfrm>
            <a:off x="822960" y="3863236"/>
            <a:ext cx="338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lang="en-GB" sz="19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Import → Find spots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fa7e4a8881_0_45"/>
          <p:cNvSpPr txBox="1"/>
          <p:nvPr/>
        </p:nvSpPr>
        <p:spPr>
          <a:xfrm>
            <a:off x="822960" y="4293004"/>
            <a:ext cx="338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DEE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Bring in images, locate reflections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fa7e4a8881_0_45"/>
          <p:cNvSpPr txBox="1"/>
          <p:nvPr/>
        </p:nvSpPr>
        <p:spPr>
          <a:xfrm>
            <a:off x="4343400" y="3863236"/>
            <a:ext cx="338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lang="en-GB" sz="19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Index → Refine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fa7e4a8881_0_45"/>
          <p:cNvSpPr txBox="1"/>
          <p:nvPr/>
        </p:nvSpPr>
        <p:spPr>
          <a:xfrm>
            <a:off x="4343400" y="4293004"/>
            <a:ext cx="338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DEE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Model the lattice and geometry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fa7e4a8881_0_45"/>
          <p:cNvSpPr txBox="1"/>
          <p:nvPr/>
        </p:nvSpPr>
        <p:spPr>
          <a:xfrm>
            <a:off x="7863840" y="3863236"/>
            <a:ext cx="338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lang="en-GB" sz="19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Integrate → Scale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fa7e4a8881_0_45"/>
          <p:cNvSpPr txBox="1"/>
          <p:nvPr/>
        </p:nvSpPr>
        <p:spPr>
          <a:xfrm>
            <a:off x="7863840" y="4293004"/>
            <a:ext cx="338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DEE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Measure and merge intensities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19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333" name="Google Shape;333;p18"/>
          <p:cNvSpPr txBox="1"/>
          <p:nvPr/>
        </p:nvSpPr>
        <p:spPr>
          <a:xfrm>
            <a:off x="548640" y="68580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3000"/>
              <a:buFont typeface="Cambria"/>
              <a:buNone/>
            </a:pPr>
            <a:r>
              <a:rPr lang="en-GB" sz="30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Launch Dui2</a:t>
            </a:r>
            <a:endParaRPr sz="30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493776" y="1938216"/>
            <a:ext cx="6647700" cy="2868900"/>
          </a:xfrm>
          <a:prstGeom prst="roundRect">
            <a:avLst>
              <a:gd name="adj" fmla="val 2550"/>
            </a:avLst>
          </a:prstGeom>
          <a:solidFill>
            <a:srgbClr val="FFFFFF"/>
          </a:solidFill>
          <a:ln w="12700" cap="flat" cmpd="sng">
            <a:solidFill>
              <a:srgbClr val="D7E1E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A2233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18" descr="assets/Screenshot_konsol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993080"/>
            <a:ext cx="6537960" cy="275931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8"/>
          <p:cNvSpPr/>
          <p:nvPr/>
        </p:nvSpPr>
        <p:spPr>
          <a:xfrm>
            <a:off x="7315200" y="1292477"/>
            <a:ext cx="457200" cy="457200"/>
          </a:xfrm>
          <a:prstGeom prst="ellipse">
            <a:avLst/>
          </a:prstGeom>
          <a:solidFill>
            <a:srgbClr val="C696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8"/>
          <p:cNvSpPr txBox="1"/>
          <p:nvPr/>
        </p:nvSpPr>
        <p:spPr>
          <a:xfrm>
            <a:off x="7315200" y="1292477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900"/>
              <a:buFont typeface="Cambria"/>
              <a:buNone/>
            </a:pPr>
            <a:r>
              <a:rPr lang="en-GB" sz="19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 txBox="1"/>
          <p:nvPr/>
        </p:nvSpPr>
        <p:spPr>
          <a:xfrm>
            <a:off x="7882128" y="1347341"/>
            <a:ext cx="377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step 1 of 10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 txBox="1"/>
          <p:nvPr/>
        </p:nvSpPr>
        <p:spPr>
          <a:xfrm>
            <a:off x="7315200" y="1978277"/>
            <a:ext cx="43434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Dui2 from inside a working directory. Dui2 writes its files (logs, .expt/.refl files, etc.) to the directory it was launched from, so cd into a dedicated processing directory first.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9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20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548640" y="68580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3000"/>
              <a:buFont typeface="Cambria"/>
              <a:buNone/>
            </a:pPr>
            <a:r>
              <a:rPr lang="en-GB" sz="30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Import</a:t>
            </a:r>
            <a:endParaRPr sz="30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9"/>
          <p:cNvSpPr/>
          <p:nvPr/>
        </p:nvSpPr>
        <p:spPr>
          <a:xfrm>
            <a:off x="5047488" y="1804599"/>
            <a:ext cx="6647700" cy="4117500"/>
          </a:xfrm>
          <a:prstGeom prst="roundRect">
            <a:avLst>
              <a:gd name="adj" fmla="val 1777"/>
            </a:avLst>
          </a:prstGeom>
          <a:solidFill>
            <a:srgbClr val="FFFFFF"/>
          </a:solidFill>
          <a:ln w="12700" cap="flat" cmpd="sng">
            <a:solidFill>
              <a:srgbClr val="D7E1E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A2233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p19" descr="assets/Screenshot_imp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2352" y="1859463"/>
            <a:ext cx="6537959" cy="400775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9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C696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9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900"/>
              <a:buFont typeface="Cambria"/>
              <a:buNone/>
            </a:pPr>
            <a:r>
              <a:rPr lang="en-GB" sz="19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 txBox="1"/>
          <p:nvPr/>
        </p:nvSpPr>
        <p:spPr>
          <a:xfrm>
            <a:off x="1115568" y="1837944"/>
            <a:ext cx="377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step 2 of 10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 txBox="1"/>
          <p:nvPr/>
        </p:nvSpPr>
        <p:spPr>
          <a:xfrm>
            <a:off x="548640" y="2468880"/>
            <a:ext cx="43434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Click “Open images”, navigate to your data, and select one image (or the master/.nxs file for HDF5/Eiger data). Dui2 builds a template matching the full data set, then “Run” reads the experiment metadata.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548640" y="4526280"/>
            <a:ext cx="4343400" cy="548700"/>
          </a:xfrm>
          <a:prstGeom prst="roundRect">
            <a:avLst>
              <a:gd name="adj" fmla="val 13333"/>
            </a:avLst>
          </a:prstGeom>
          <a:solidFill>
            <a:srgbClr val="152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9"/>
          <p:cNvSpPr txBox="1"/>
          <p:nvPr/>
        </p:nvSpPr>
        <p:spPr>
          <a:xfrm>
            <a:off x="731520" y="4526280"/>
            <a:ext cx="3977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E7C4"/>
              </a:buClr>
              <a:buSzPts val="1600"/>
              <a:buFont typeface="Courier New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dials.import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548640" y="521208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GB" sz="1800" b="0" i="0" u="none" strike="noStrike" cap="non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imported.expt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0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21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548640" y="68580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3000"/>
              <a:buFont typeface="Cambria"/>
              <a:buNone/>
            </a:pPr>
            <a:r>
              <a:rPr lang="en-GB" sz="30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Find spots</a:t>
            </a:r>
            <a:endParaRPr sz="30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493776" y="1712714"/>
            <a:ext cx="6647700" cy="3800100"/>
          </a:xfrm>
          <a:prstGeom prst="roundRect">
            <a:avLst>
              <a:gd name="adj" fmla="val 1925"/>
            </a:avLst>
          </a:prstGeom>
          <a:solidFill>
            <a:srgbClr val="FFFFFF"/>
          </a:solidFill>
          <a:ln w="12700" cap="flat" cmpd="sng">
            <a:solidFill>
              <a:srgbClr val="D7E1E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A2233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" name="Google Shape;366;p20" descr="assets/Screenshot_find_spot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767578"/>
            <a:ext cx="6537961" cy="3690482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0"/>
          <p:cNvSpPr/>
          <p:nvPr/>
        </p:nvSpPr>
        <p:spPr>
          <a:xfrm>
            <a:off x="7315200" y="1532559"/>
            <a:ext cx="457200" cy="457200"/>
          </a:xfrm>
          <a:prstGeom prst="ellipse">
            <a:avLst/>
          </a:prstGeom>
          <a:solidFill>
            <a:srgbClr val="C696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7315200" y="1532559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900"/>
              <a:buFont typeface="Cambria"/>
              <a:buNone/>
            </a:pPr>
            <a:r>
              <a:rPr lang="en-GB" sz="19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 txBox="1"/>
          <p:nvPr/>
        </p:nvSpPr>
        <p:spPr>
          <a:xfrm>
            <a:off x="7882128" y="1587423"/>
            <a:ext cx="377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step 3 of 10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0"/>
          <p:cNvSpPr txBox="1"/>
          <p:nvPr/>
        </p:nvSpPr>
        <p:spPr>
          <a:xfrm>
            <a:off x="7315200" y="2218359"/>
            <a:ext cx="43434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Click the “find spots” button to create a new node, then “Run”. This searches every image for diffraction spots — one of the more time-consuming steps, since it reads the whole data set.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7315200" y="4275759"/>
            <a:ext cx="4343400" cy="548700"/>
          </a:xfrm>
          <a:prstGeom prst="roundRect">
            <a:avLst>
              <a:gd name="adj" fmla="val 13333"/>
            </a:avLst>
          </a:prstGeom>
          <a:solidFill>
            <a:srgbClr val="152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7498080" y="4275759"/>
            <a:ext cx="3977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E7C4"/>
              </a:buClr>
              <a:buSzPts val="1600"/>
              <a:buFont typeface="Courier New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dials.find_spots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0"/>
          <p:cNvSpPr txBox="1"/>
          <p:nvPr/>
        </p:nvSpPr>
        <p:spPr>
          <a:xfrm>
            <a:off x="7315200" y="4961559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GB" sz="1800" b="0" i="0" u="none" strike="noStrike" cap="non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strong.refl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1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22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548640" y="68580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3000"/>
              <a:buFont typeface="Cambria"/>
              <a:buNone/>
            </a:pPr>
            <a:r>
              <a:rPr lang="en-GB" sz="30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Search beam position</a:t>
            </a:r>
            <a:endParaRPr sz="30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10104120" y="420624"/>
            <a:ext cx="1554600" cy="384000"/>
          </a:xfrm>
          <a:prstGeom prst="roundRect">
            <a:avLst>
              <a:gd name="adj" fmla="val 50000"/>
            </a:avLst>
          </a:prstGeom>
          <a:solidFill>
            <a:srgbClr val="FBF2DE"/>
          </a:solidFill>
          <a:ln w="12700" cap="flat" cmpd="sng">
            <a:solidFill>
              <a:srgbClr val="B565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10104120" y="420624"/>
            <a:ext cx="1554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652B"/>
              </a:buClr>
              <a:buSzPts val="14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OPTIONAL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5047488" y="1712714"/>
            <a:ext cx="6647700" cy="3800100"/>
          </a:xfrm>
          <a:prstGeom prst="roundRect">
            <a:avLst>
              <a:gd name="adj" fmla="val 1925"/>
            </a:avLst>
          </a:prstGeom>
          <a:solidFill>
            <a:srgbClr val="FFFFFF"/>
          </a:solidFill>
          <a:ln w="12700" cap="flat" cmpd="sng">
            <a:solidFill>
              <a:srgbClr val="D7E1E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A2233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1" descr="assets/Screenshot_search_B_po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2352" y="1767578"/>
            <a:ext cx="6537961" cy="3690482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1"/>
          <p:cNvSpPr/>
          <p:nvPr/>
        </p:nvSpPr>
        <p:spPr>
          <a:xfrm>
            <a:off x="548640" y="1532559"/>
            <a:ext cx="457200" cy="457200"/>
          </a:xfrm>
          <a:prstGeom prst="ellipse">
            <a:avLst/>
          </a:prstGeom>
          <a:solidFill>
            <a:srgbClr val="B565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548640" y="1532559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900"/>
              <a:buFont typeface="Cambria"/>
              <a:buNone/>
            </a:pPr>
            <a:r>
              <a:rPr lang="en-GB" sz="19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1115568" y="1587423"/>
            <a:ext cx="377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step 4 of 10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548640" y="2218359"/>
            <a:ext cx="43434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If the beam centre looks off in the Reciprocal Lattice viewer, this optional step refines it before indexing — worth a look if indexing struggles later on.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1"/>
          <p:cNvSpPr/>
          <p:nvPr/>
        </p:nvSpPr>
        <p:spPr>
          <a:xfrm>
            <a:off x="548640" y="4275759"/>
            <a:ext cx="4343400" cy="548700"/>
          </a:xfrm>
          <a:prstGeom prst="roundRect">
            <a:avLst>
              <a:gd name="adj" fmla="val 13333"/>
            </a:avLst>
          </a:prstGeom>
          <a:solidFill>
            <a:srgbClr val="152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731520" y="4275759"/>
            <a:ext cx="3977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E7C4"/>
              </a:buClr>
              <a:buSzPts val="1600"/>
              <a:buFont typeface="Courier New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dials.search_beam_position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2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23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548640" y="68580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3000"/>
              <a:buFont typeface="Cambria"/>
              <a:buNone/>
            </a:pPr>
            <a:r>
              <a:rPr lang="en-GB" sz="30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Index</a:t>
            </a:r>
            <a:endParaRPr sz="30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2"/>
          <p:cNvSpPr/>
          <p:nvPr/>
        </p:nvSpPr>
        <p:spPr>
          <a:xfrm>
            <a:off x="493776" y="1796221"/>
            <a:ext cx="6647700" cy="3800100"/>
          </a:xfrm>
          <a:prstGeom prst="roundRect">
            <a:avLst>
              <a:gd name="adj" fmla="val 1925"/>
            </a:avLst>
          </a:prstGeom>
          <a:solidFill>
            <a:srgbClr val="FFFFFF"/>
          </a:solidFill>
          <a:ln w="12700" cap="flat" cmpd="sng">
            <a:solidFill>
              <a:srgbClr val="D7E1E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A2233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Google Shape;401;p22" descr="assets/Screenshot_inde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851085"/>
            <a:ext cx="6537961" cy="3690482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2"/>
          <p:cNvSpPr/>
          <p:nvPr/>
        </p:nvSpPr>
        <p:spPr>
          <a:xfrm>
            <a:off x="7315200" y="1616066"/>
            <a:ext cx="457200" cy="457200"/>
          </a:xfrm>
          <a:prstGeom prst="ellipse">
            <a:avLst/>
          </a:prstGeom>
          <a:solidFill>
            <a:srgbClr val="C696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7315200" y="161606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900"/>
              <a:buFont typeface="Cambria"/>
              <a:buNone/>
            </a:pPr>
            <a:r>
              <a:rPr lang="en-GB" sz="19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7882128" y="1670930"/>
            <a:ext cx="377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step 5 of 10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7315200" y="2301866"/>
            <a:ext cx="43434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Click “index” and “Run”. This finds the crystal lattice from the spot positions — the geometric heart of the whole processing pipeline.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7315200" y="4359266"/>
            <a:ext cx="4343400" cy="548700"/>
          </a:xfrm>
          <a:prstGeom prst="roundRect">
            <a:avLst>
              <a:gd name="adj" fmla="val 13333"/>
            </a:avLst>
          </a:prstGeom>
          <a:solidFill>
            <a:srgbClr val="152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7498080" y="4359266"/>
            <a:ext cx="3977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E7C4"/>
              </a:buClr>
              <a:buSzPts val="1600"/>
              <a:buFont typeface="Courier New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dials.index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7315200" y="5045066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GB" sz="1800" b="0" i="0" u="none" strike="noStrike" cap="non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indexed.expt / indexed.refl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3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24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416" name="Google Shape;416;p23"/>
          <p:cNvSpPr txBox="1"/>
          <p:nvPr/>
        </p:nvSpPr>
        <p:spPr>
          <a:xfrm>
            <a:off x="548640" y="68580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3000"/>
              <a:buFont typeface="Cambria"/>
              <a:buNone/>
            </a:pPr>
            <a:r>
              <a:rPr lang="en-GB" sz="30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Determine the Bravais lattice</a:t>
            </a:r>
            <a:endParaRPr sz="30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10104120" y="420624"/>
            <a:ext cx="1554600" cy="384000"/>
          </a:xfrm>
          <a:prstGeom prst="roundRect">
            <a:avLst>
              <a:gd name="adj" fmla="val 50000"/>
            </a:avLst>
          </a:prstGeom>
          <a:solidFill>
            <a:srgbClr val="FBF2DE"/>
          </a:solidFill>
          <a:ln w="12700" cap="flat" cmpd="sng">
            <a:solidFill>
              <a:srgbClr val="B565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3"/>
          <p:cNvSpPr txBox="1"/>
          <p:nvPr/>
        </p:nvSpPr>
        <p:spPr>
          <a:xfrm>
            <a:off x="10104120" y="420624"/>
            <a:ext cx="1554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652B"/>
              </a:buClr>
              <a:buSzPts val="14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OPTIONAL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5047488" y="1608077"/>
            <a:ext cx="6647700" cy="4051200"/>
          </a:xfrm>
          <a:prstGeom prst="roundRect">
            <a:avLst>
              <a:gd name="adj" fmla="val 1806"/>
            </a:avLst>
          </a:prstGeom>
          <a:solidFill>
            <a:srgbClr val="FFFFFF"/>
          </a:solidFill>
          <a:ln w="12700" cap="flat" cmpd="sng">
            <a:solidFill>
              <a:srgbClr val="D7E1E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A2233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0" name="Google Shape;420;p23" descr="assets/Screenshot_Bravais_la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2352" y="1662941"/>
            <a:ext cx="6537961" cy="394151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3"/>
          <p:cNvSpPr/>
          <p:nvPr/>
        </p:nvSpPr>
        <p:spPr>
          <a:xfrm>
            <a:off x="548640" y="1553436"/>
            <a:ext cx="457200" cy="457200"/>
          </a:xfrm>
          <a:prstGeom prst="ellipse">
            <a:avLst/>
          </a:prstGeom>
          <a:solidFill>
            <a:srgbClr val="B565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548640" y="15534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900"/>
              <a:buFont typeface="Cambria"/>
              <a:buNone/>
            </a:pPr>
            <a:r>
              <a:rPr lang="en-GB" sz="19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1115568" y="1608300"/>
            <a:ext cx="377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step 6 of 10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548640" y="2239236"/>
            <a:ext cx="43434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Proposes possible higher-symmetry lattices consistent with the indexed cell. If you pick one, a “Reindex” step applies it to the model.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317400" y="4296631"/>
            <a:ext cx="4460100" cy="548700"/>
          </a:xfrm>
          <a:prstGeom prst="roundRect">
            <a:avLst>
              <a:gd name="adj" fmla="val 13333"/>
            </a:avLst>
          </a:prstGeom>
          <a:solidFill>
            <a:srgbClr val="152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317400" y="4296631"/>
            <a:ext cx="4392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E7C4"/>
              </a:buClr>
              <a:buSzPts val="1600"/>
              <a:buFont typeface="Courier New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 dials.refine_bravais_settings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4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25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434" name="Google Shape;434;p24"/>
          <p:cNvSpPr txBox="1"/>
          <p:nvPr/>
        </p:nvSpPr>
        <p:spPr>
          <a:xfrm>
            <a:off x="548640" y="68580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3000"/>
              <a:buFont typeface="Cambria"/>
              <a:buNone/>
            </a:pPr>
            <a:r>
              <a:rPr lang="en-GB" sz="30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Refine</a:t>
            </a:r>
            <a:endParaRPr sz="30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4"/>
          <p:cNvSpPr/>
          <p:nvPr/>
        </p:nvSpPr>
        <p:spPr>
          <a:xfrm>
            <a:off x="493776" y="1628954"/>
            <a:ext cx="6647700" cy="4051200"/>
          </a:xfrm>
          <a:prstGeom prst="roundRect">
            <a:avLst>
              <a:gd name="adj" fmla="val 1806"/>
            </a:avLst>
          </a:prstGeom>
          <a:solidFill>
            <a:srgbClr val="FFFFFF"/>
          </a:solidFill>
          <a:ln w="12700" cap="flat" cmpd="sng">
            <a:solidFill>
              <a:srgbClr val="D7E1E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A2233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24" descr="assets/Screenshot_refin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683818"/>
            <a:ext cx="6537961" cy="394151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4"/>
          <p:cNvSpPr/>
          <p:nvPr/>
        </p:nvSpPr>
        <p:spPr>
          <a:xfrm>
            <a:off x="7315200" y="1574313"/>
            <a:ext cx="457200" cy="457200"/>
          </a:xfrm>
          <a:prstGeom prst="ellipse">
            <a:avLst/>
          </a:prstGeom>
          <a:solidFill>
            <a:srgbClr val="C696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315200" y="157431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900"/>
              <a:buFont typeface="Cambria"/>
              <a:buNone/>
            </a:pPr>
            <a:r>
              <a:rPr lang="en-GB" sz="19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882128" y="1629177"/>
            <a:ext cx="377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step 7 of 10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315200" y="2260113"/>
            <a:ext cx="43434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Click “Refine” to improve the crystal and experimental geometry model, including scan-varying refinement across the rotation range.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7315200" y="4317513"/>
            <a:ext cx="4343400" cy="548700"/>
          </a:xfrm>
          <a:prstGeom prst="roundRect">
            <a:avLst>
              <a:gd name="adj" fmla="val 13333"/>
            </a:avLst>
          </a:prstGeom>
          <a:solidFill>
            <a:srgbClr val="152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498080" y="4317513"/>
            <a:ext cx="3977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E7C4"/>
              </a:buClr>
              <a:buSzPts val="1600"/>
              <a:buFont typeface="Courier New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dials.refine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5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26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450" name="Google Shape;450;p25"/>
          <p:cNvSpPr txBox="1"/>
          <p:nvPr/>
        </p:nvSpPr>
        <p:spPr>
          <a:xfrm>
            <a:off x="548640" y="68580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3000"/>
              <a:buFont typeface="Cambria"/>
              <a:buNone/>
            </a:pPr>
            <a:r>
              <a:rPr lang="en-GB" sz="30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Integrate</a:t>
            </a:r>
            <a:endParaRPr sz="30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5"/>
          <p:cNvSpPr/>
          <p:nvPr/>
        </p:nvSpPr>
        <p:spPr>
          <a:xfrm>
            <a:off x="5047488" y="1566602"/>
            <a:ext cx="6647700" cy="4238700"/>
          </a:xfrm>
          <a:prstGeom prst="roundRect">
            <a:avLst>
              <a:gd name="adj" fmla="val 1726"/>
            </a:avLst>
          </a:prstGeom>
          <a:solidFill>
            <a:srgbClr val="FFFFFF"/>
          </a:solidFill>
          <a:ln w="12700" cap="flat" cmpd="sng">
            <a:solidFill>
              <a:srgbClr val="D7E1E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A2233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2" name="Google Shape;452;p25" descr="assets/Screenshot_integra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2352" y="1621466"/>
            <a:ext cx="6537961" cy="4128844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5"/>
          <p:cNvSpPr/>
          <p:nvPr/>
        </p:nvSpPr>
        <p:spPr>
          <a:xfrm>
            <a:off x="548640" y="1605628"/>
            <a:ext cx="457200" cy="457200"/>
          </a:xfrm>
          <a:prstGeom prst="ellipse">
            <a:avLst/>
          </a:prstGeom>
          <a:solidFill>
            <a:srgbClr val="C696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5"/>
          <p:cNvSpPr txBox="1"/>
          <p:nvPr/>
        </p:nvSpPr>
        <p:spPr>
          <a:xfrm>
            <a:off x="548640" y="16056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900"/>
              <a:buFont typeface="Cambria"/>
              <a:buNone/>
            </a:pPr>
            <a:r>
              <a:rPr lang="en-GB" sz="19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5"/>
          <p:cNvSpPr txBox="1"/>
          <p:nvPr/>
        </p:nvSpPr>
        <p:spPr>
          <a:xfrm>
            <a:off x="1115568" y="1660492"/>
            <a:ext cx="377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step 8 of 10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5"/>
          <p:cNvSpPr txBox="1"/>
          <p:nvPr/>
        </p:nvSpPr>
        <p:spPr>
          <a:xfrm>
            <a:off x="548640" y="2291428"/>
            <a:ext cx="43434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Click “Integrate” and “Run” to measure the intensity of every predicted reflection. This is normally the most computationally expensive step in the whole workflow.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548640" y="4348828"/>
            <a:ext cx="4343400" cy="548700"/>
          </a:xfrm>
          <a:prstGeom prst="roundRect">
            <a:avLst>
              <a:gd name="adj" fmla="val 13333"/>
            </a:avLst>
          </a:prstGeom>
          <a:solidFill>
            <a:srgbClr val="152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5"/>
          <p:cNvSpPr txBox="1"/>
          <p:nvPr/>
        </p:nvSpPr>
        <p:spPr>
          <a:xfrm>
            <a:off x="731520" y="4348828"/>
            <a:ext cx="3977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E7C4"/>
              </a:buClr>
              <a:buSzPts val="1600"/>
              <a:buFont typeface="Courier New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dials.integrate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6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27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466" name="Google Shape;466;p26"/>
          <p:cNvSpPr txBox="1"/>
          <p:nvPr/>
        </p:nvSpPr>
        <p:spPr>
          <a:xfrm>
            <a:off x="548640" y="68580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3000"/>
              <a:buFont typeface="Cambria"/>
              <a:buNone/>
            </a:pPr>
            <a:r>
              <a:rPr lang="en-GB" sz="30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Symmetry</a:t>
            </a:r>
            <a:endParaRPr sz="30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6"/>
          <p:cNvSpPr/>
          <p:nvPr/>
        </p:nvSpPr>
        <p:spPr>
          <a:xfrm>
            <a:off x="493776" y="1537909"/>
            <a:ext cx="6647700" cy="4191600"/>
          </a:xfrm>
          <a:prstGeom prst="roundRect">
            <a:avLst>
              <a:gd name="adj" fmla="val 1745"/>
            </a:avLst>
          </a:prstGeom>
          <a:solidFill>
            <a:srgbClr val="FFFFFF"/>
          </a:solidFill>
          <a:ln w="12700" cap="flat" cmpd="sng">
            <a:solidFill>
              <a:srgbClr val="D7E1E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A2233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8" name="Google Shape;468;p26" descr="assets/Screenshot_symmetr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592773"/>
            <a:ext cx="6537960" cy="408184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6"/>
          <p:cNvSpPr/>
          <p:nvPr/>
        </p:nvSpPr>
        <p:spPr>
          <a:xfrm>
            <a:off x="7315200" y="1553436"/>
            <a:ext cx="457200" cy="457200"/>
          </a:xfrm>
          <a:prstGeom prst="ellipse">
            <a:avLst/>
          </a:prstGeom>
          <a:solidFill>
            <a:srgbClr val="C696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6"/>
          <p:cNvSpPr txBox="1"/>
          <p:nvPr/>
        </p:nvSpPr>
        <p:spPr>
          <a:xfrm>
            <a:off x="7315200" y="15534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900"/>
              <a:buFont typeface="Cambria"/>
              <a:buNone/>
            </a:pPr>
            <a:r>
              <a:rPr lang="en-GB" sz="19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6"/>
          <p:cNvSpPr txBox="1"/>
          <p:nvPr/>
        </p:nvSpPr>
        <p:spPr>
          <a:xfrm>
            <a:off x="7882128" y="1608300"/>
            <a:ext cx="377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step 9 of 10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6"/>
          <p:cNvSpPr txBox="1"/>
          <p:nvPr/>
        </p:nvSpPr>
        <p:spPr>
          <a:xfrm>
            <a:off x="7315200" y="2239236"/>
            <a:ext cx="43434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Click “symmetry” to determine the crystal's true symmetry, including a search for systematic absences that pin down screw axes.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7315200" y="4296636"/>
            <a:ext cx="4343400" cy="548700"/>
          </a:xfrm>
          <a:prstGeom prst="roundRect">
            <a:avLst>
              <a:gd name="adj" fmla="val 13333"/>
            </a:avLst>
          </a:prstGeom>
          <a:solidFill>
            <a:srgbClr val="152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6"/>
          <p:cNvSpPr txBox="1"/>
          <p:nvPr/>
        </p:nvSpPr>
        <p:spPr>
          <a:xfrm>
            <a:off x="7498080" y="4296636"/>
            <a:ext cx="3977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E7C4"/>
              </a:buClr>
              <a:buSzPts val="1600"/>
              <a:buFont typeface="Courier New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dials.symmetry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6"/>
          <p:cNvSpPr txBox="1"/>
          <p:nvPr/>
        </p:nvSpPr>
        <p:spPr>
          <a:xfrm>
            <a:off x="7315200" y="4982436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GB" sz="1800" b="0" i="0" u="none" strike="noStrike" cap="non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symmetrized.expt / symmetrized.refl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7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28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483" name="Google Shape;483;p27"/>
          <p:cNvSpPr txBox="1"/>
          <p:nvPr/>
        </p:nvSpPr>
        <p:spPr>
          <a:xfrm>
            <a:off x="548640" y="68580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3000"/>
              <a:buFont typeface="Cambria"/>
              <a:buNone/>
            </a:pPr>
            <a:r>
              <a:rPr lang="en-GB" sz="30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Scale (and merge)</a:t>
            </a:r>
            <a:endParaRPr sz="30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7"/>
          <p:cNvSpPr/>
          <p:nvPr/>
        </p:nvSpPr>
        <p:spPr>
          <a:xfrm>
            <a:off x="5047488" y="1597254"/>
            <a:ext cx="6647700" cy="41145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 cap="flat" cmpd="sng">
            <a:solidFill>
              <a:srgbClr val="D7E1E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A2233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Google Shape;485;p27" descr="assets/Screenshot_scale_n_mer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2352" y="1652118"/>
            <a:ext cx="6537962" cy="4004908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7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C696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7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900"/>
              <a:buFont typeface="Cambria"/>
              <a:buNone/>
            </a:pPr>
            <a:r>
              <a:rPr lang="en-GB" sz="19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7"/>
          <p:cNvSpPr txBox="1"/>
          <p:nvPr/>
        </p:nvSpPr>
        <p:spPr>
          <a:xfrm>
            <a:off x="1115568" y="1837944"/>
            <a:ext cx="377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step 10 of 10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7"/>
          <p:cNvSpPr txBox="1"/>
          <p:nvPr/>
        </p:nvSpPr>
        <p:spPr>
          <a:xfrm>
            <a:off x="548640" y="2260113"/>
            <a:ext cx="43434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Click “scale” to correct for radiation damage, beam intensity variation, and absorption. From here, merge for a merged MTZ, and/or export for a scaled, unmerged MTZ — both downloadable from their node.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548640" y="4317513"/>
            <a:ext cx="4343400" cy="548700"/>
          </a:xfrm>
          <a:prstGeom prst="roundRect">
            <a:avLst>
              <a:gd name="adj" fmla="val 13333"/>
            </a:avLst>
          </a:prstGeom>
          <a:solidFill>
            <a:srgbClr val="152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7"/>
          <p:cNvSpPr txBox="1"/>
          <p:nvPr/>
        </p:nvSpPr>
        <p:spPr>
          <a:xfrm>
            <a:off x="731520" y="4317513"/>
            <a:ext cx="3977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E7C4"/>
              </a:buClr>
              <a:buSzPts val="1600"/>
              <a:buFont typeface="Courier New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dials.scale  →  dials.merge / dials.export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8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29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498" name="Google Shape;498;p28"/>
          <p:cNvSpPr txBox="1"/>
          <p:nvPr/>
        </p:nvSpPr>
        <p:spPr>
          <a:xfrm>
            <a:off x="548640" y="36576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961F"/>
              </a:buClr>
              <a:buSzPts val="1600"/>
              <a:buFont typeface="Calibri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THROUGHOUT THE WORKFLOW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8"/>
          <p:cNvSpPr txBox="1"/>
          <p:nvPr/>
        </p:nvSpPr>
        <p:spPr>
          <a:xfrm>
            <a:off x="548640" y="68580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GB" sz="3000" b="1" i="0" u="none" strike="noStrike" cap="non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Inspect, and iterate if needed</a:t>
            </a:r>
            <a:endParaRPr sz="30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8"/>
          <p:cNvSpPr/>
          <p:nvPr/>
        </p:nvSpPr>
        <p:spPr>
          <a:xfrm>
            <a:off x="548640" y="1828800"/>
            <a:ext cx="2697600" cy="1508700"/>
          </a:xfrm>
          <a:prstGeom prst="roundRect">
            <a:avLst>
              <a:gd name="adj" fmla="val 6061"/>
            </a:avLst>
          </a:prstGeom>
          <a:solidFill>
            <a:srgbClr val="1E32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8"/>
          <p:cNvSpPr txBox="1"/>
          <p:nvPr/>
        </p:nvSpPr>
        <p:spPr>
          <a:xfrm>
            <a:off x="777240" y="1993392"/>
            <a:ext cx="2240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961F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8"/>
          <p:cNvSpPr txBox="1"/>
          <p:nvPr/>
        </p:nvSpPr>
        <p:spPr>
          <a:xfrm>
            <a:off x="777240" y="2423160"/>
            <a:ext cx="22404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E9F5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The command's raw text output.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8"/>
          <p:cNvSpPr/>
          <p:nvPr/>
        </p:nvSpPr>
        <p:spPr>
          <a:xfrm>
            <a:off x="3383280" y="1828800"/>
            <a:ext cx="2697600" cy="1508700"/>
          </a:xfrm>
          <a:prstGeom prst="roundRect">
            <a:avLst>
              <a:gd name="adj" fmla="val 6061"/>
            </a:avLst>
          </a:prstGeom>
          <a:solidFill>
            <a:srgbClr val="1E32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8"/>
          <p:cNvSpPr txBox="1"/>
          <p:nvPr/>
        </p:nvSpPr>
        <p:spPr>
          <a:xfrm>
            <a:off x="3611880" y="1993392"/>
            <a:ext cx="2240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961F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8"/>
          <p:cNvSpPr txBox="1"/>
          <p:nvPr/>
        </p:nvSpPr>
        <p:spPr>
          <a:xfrm>
            <a:off x="3611880" y="2423160"/>
            <a:ext cx="22404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E9F5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An HTML dials.report summary.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8"/>
          <p:cNvSpPr/>
          <p:nvPr/>
        </p:nvSpPr>
        <p:spPr>
          <a:xfrm>
            <a:off x="6217920" y="1828800"/>
            <a:ext cx="2697600" cy="1508700"/>
          </a:xfrm>
          <a:prstGeom prst="roundRect">
            <a:avLst>
              <a:gd name="adj" fmla="val 6061"/>
            </a:avLst>
          </a:prstGeom>
          <a:solidFill>
            <a:srgbClr val="1E32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8"/>
          <p:cNvSpPr txBox="1"/>
          <p:nvPr/>
        </p:nvSpPr>
        <p:spPr>
          <a:xfrm>
            <a:off x="6446520" y="1993392"/>
            <a:ext cx="2240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961F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8"/>
          <p:cNvSpPr txBox="1"/>
          <p:nvPr/>
        </p:nvSpPr>
        <p:spPr>
          <a:xfrm>
            <a:off x="6446520" y="2423160"/>
            <a:ext cx="22404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E9F5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Diffraction images with overlays.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8"/>
          <p:cNvSpPr/>
          <p:nvPr/>
        </p:nvSpPr>
        <p:spPr>
          <a:xfrm>
            <a:off x="9052560" y="1828800"/>
            <a:ext cx="2697600" cy="1508700"/>
          </a:xfrm>
          <a:prstGeom prst="roundRect">
            <a:avLst>
              <a:gd name="adj" fmla="val 6061"/>
            </a:avLst>
          </a:prstGeom>
          <a:solidFill>
            <a:srgbClr val="1E32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8"/>
          <p:cNvSpPr txBox="1"/>
          <p:nvPr/>
        </p:nvSpPr>
        <p:spPr>
          <a:xfrm>
            <a:off x="9281160" y="1993392"/>
            <a:ext cx="2240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961F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Reciprocal lattice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8"/>
          <p:cNvSpPr txBox="1"/>
          <p:nvPr/>
        </p:nvSpPr>
        <p:spPr>
          <a:xfrm>
            <a:off x="9281160" y="2423160"/>
            <a:ext cx="22404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E9F5"/>
              </a:buClr>
              <a:buSzPts val="1600"/>
              <a:buFont typeface="Calibri"/>
              <a:buNone/>
            </a:pPr>
            <a:r>
              <a:rPr lang="en-GB" sz="1800" b="0" i="0" u="none" strike="noStrike" cap="non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The reciprocal-space view of spots.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8"/>
          <p:cNvSpPr txBox="1"/>
          <p:nvPr/>
        </p:nvSpPr>
        <p:spPr>
          <a:xfrm>
            <a:off x="548640" y="3566160"/>
            <a:ext cx="110643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9DDEE"/>
              </a:buClr>
              <a:buSzPts val="1900"/>
              <a:buFont typeface="Calibri"/>
              <a:buNone/>
            </a:pPr>
            <a:r>
              <a:rPr lang="en-GB" sz="19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If a step doesn't go the way you want, click back on an earlier node, fork a new path with “Clone”, and try again with different parameters — without losing your earlier work.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8"/>
          <p:cNvSpPr/>
          <p:nvPr/>
        </p:nvSpPr>
        <p:spPr>
          <a:xfrm>
            <a:off x="548640" y="4415425"/>
            <a:ext cx="11091600" cy="1508700"/>
          </a:xfrm>
          <a:prstGeom prst="roundRect">
            <a:avLst>
              <a:gd name="adj" fmla="val 7273"/>
            </a:avLst>
          </a:prstGeom>
          <a:solidFill>
            <a:srgbClr val="C696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8"/>
          <p:cNvSpPr txBox="1"/>
          <p:nvPr/>
        </p:nvSpPr>
        <p:spPr>
          <a:xfrm>
            <a:off x="822960" y="4552585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700"/>
              <a:buFont typeface="Calibri"/>
              <a:buNone/>
            </a:pPr>
            <a:r>
              <a:rPr lang="en-GB" sz="18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For more detail</a:t>
            </a:r>
            <a:endParaRPr sz="18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8"/>
          <p:cNvSpPr txBox="1"/>
          <p:nvPr/>
        </p:nvSpPr>
        <p:spPr>
          <a:xfrm>
            <a:off x="822960" y="4964065"/>
            <a:ext cx="10515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238"/>
              </a:buClr>
              <a:buSzPts val="1900"/>
              <a:buFont typeface="Cambria"/>
              <a:buNone/>
            </a:pPr>
            <a:r>
              <a:rPr lang="en-GB" sz="1900" b="0" i="1" u="none" strike="noStrike" cap="none">
                <a:solidFill>
                  <a:srgbClr val="FFFF00"/>
                </a:solidFill>
                <a:latin typeface="Cambria"/>
                <a:ea typeface="Cambria"/>
                <a:cs typeface="Cambria"/>
                <a:sym typeface="Cambria"/>
              </a:rPr>
              <a:t>Legacy tutorial (full step-by-step walkthrough)  •  Multi-lattice  •  THAS1 (anomalous SAD phasing)  •  Beta lactamase</a:t>
            </a:r>
            <a:endParaRPr sz="19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9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30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522" name="Google Shape;522;p29"/>
          <p:cNvSpPr/>
          <p:nvPr/>
        </p:nvSpPr>
        <p:spPr>
          <a:xfrm>
            <a:off x="1981210" y="2039175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EA0"/>
              </a:buClr>
              <a:buSzPts val="1100"/>
              <a:buFont typeface="Georgia"/>
              <a:buNone/>
            </a:pPr>
            <a:r>
              <a:rPr lang="en-GB" sz="21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Full tutorial: https://github.com/ccp4/DUI2/wiki/Multiple-lattices</a:t>
            </a:r>
            <a:endParaRPr sz="2100" b="1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9"/>
          <p:cNvSpPr/>
          <p:nvPr/>
        </p:nvSpPr>
        <p:spPr>
          <a:xfrm>
            <a:off x="548640" y="4196226"/>
            <a:ext cx="11064300" cy="960000"/>
          </a:xfrm>
          <a:prstGeom prst="roundRect">
            <a:avLst>
              <a:gd name="adj" fmla="val 7619"/>
            </a:avLst>
          </a:prstGeom>
          <a:solidFill>
            <a:srgbClr val="FBF3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9"/>
          <p:cNvSpPr/>
          <p:nvPr/>
        </p:nvSpPr>
        <p:spPr>
          <a:xfrm>
            <a:off x="822960" y="4333386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Dataset:  </a:t>
            </a: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semi-synthetic two-lattice trypsin dataset collected at beamline I04, Diamond Light Source (Zenodo record 10820).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9"/>
          <p:cNvSpPr/>
          <p:nvPr/>
        </p:nvSpPr>
        <p:spPr>
          <a:xfrm>
            <a:off x="548640" y="2921959"/>
            <a:ext cx="110643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4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This tutorial covers processing a dataset containing two overlapping crystal lattices using DIALS via DUI2. If you have not yet worked through a single-lattice dataset in DUI2, it is worth doing that first — this tutorial focuses on where the workflow diverges and why.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9"/>
          <p:cNvSpPr/>
          <p:nvPr/>
        </p:nvSpPr>
        <p:spPr>
          <a:xfrm>
            <a:off x="2423140" y="53395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Georgia"/>
              <a:buNone/>
            </a:pPr>
            <a:r>
              <a:rPr lang="en-GB" sz="2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How to treat a </a:t>
            </a:r>
            <a:r>
              <a:rPr lang="en-GB" sz="2800" b="1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Multiple Lattices</a:t>
            </a:r>
            <a:r>
              <a:rPr lang="en-GB" sz="2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 case:</a:t>
            </a:r>
            <a:endParaRPr sz="2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0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31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533" name="Google Shape;533;p30"/>
          <p:cNvSpPr/>
          <p:nvPr/>
        </p:nvSpPr>
        <p:spPr>
          <a:xfrm>
            <a:off x="548640" y="45720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Georgia"/>
              <a:buNone/>
            </a:pPr>
            <a:r>
              <a:rPr lang="en-GB" sz="2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Chapters:</a:t>
            </a:r>
            <a:endParaRPr sz="2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0"/>
          <p:cNvSpPr/>
          <p:nvPr/>
        </p:nvSpPr>
        <p:spPr>
          <a:xfrm>
            <a:off x="548640" y="1694163"/>
            <a:ext cx="3643315" cy="3267563"/>
          </a:xfrm>
          <a:prstGeom prst="roundRect">
            <a:avLst>
              <a:gd name="adj" fmla="val 2759"/>
            </a:avLst>
          </a:prstGeom>
          <a:solidFill>
            <a:srgbClr val="F1F4F7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0"/>
          <p:cNvSpPr/>
          <p:nvPr/>
        </p:nvSpPr>
        <p:spPr>
          <a:xfrm>
            <a:off x="784585" y="1776446"/>
            <a:ext cx="3063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Discover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0"/>
          <p:cNvSpPr/>
          <p:nvPr/>
        </p:nvSpPr>
        <p:spPr>
          <a:xfrm>
            <a:off x="822950" y="2180123"/>
            <a:ext cx="3063300" cy="20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15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Process as a single-lattice dataset first, use DUI2's visualisation tools to diagnose the second lattice, then re-index with max_lattices=5 and split the history tree into two independent branches.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0"/>
          <p:cNvSpPr/>
          <p:nvPr/>
        </p:nvSpPr>
        <p:spPr>
          <a:xfrm>
            <a:off x="4343400" y="1683724"/>
            <a:ext cx="3612000" cy="3267563"/>
          </a:xfrm>
          <a:prstGeom prst="roundRect">
            <a:avLst>
              <a:gd name="adj" fmla="val 2759"/>
            </a:avLst>
          </a:prstGeom>
          <a:solidFill>
            <a:srgbClr val="F1F4F7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0"/>
          <p:cNvSpPr/>
          <p:nvPr/>
        </p:nvSpPr>
        <p:spPr>
          <a:xfrm>
            <a:off x="4617745" y="1776429"/>
            <a:ext cx="3063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Process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0"/>
          <p:cNvSpPr/>
          <p:nvPr/>
        </p:nvSpPr>
        <p:spPr>
          <a:xfrm>
            <a:off x="4549095" y="2180101"/>
            <a:ext cx="30633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15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Follow each branch through Bravais settings, refinement, and integration independently.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0"/>
          <p:cNvSpPr/>
          <p:nvPr/>
        </p:nvSpPr>
        <p:spPr>
          <a:xfrm>
            <a:off x="8138160" y="1673286"/>
            <a:ext cx="3612000" cy="3278001"/>
          </a:xfrm>
          <a:prstGeom prst="roundRect">
            <a:avLst>
              <a:gd name="adj" fmla="val 2759"/>
            </a:avLst>
          </a:prstGeom>
          <a:solidFill>
            <a:srgbClr val="F1F4F7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0"/>
          <p:cNvSpPr/>
          <p:nvPr/>
        </p:nvSpPr>
        <p:spPr>
          <a:xfrm>
            <a:off x="8412555" y="1776429"/>
            <a:ext cx="3063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Post integration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0"/>
          <p:cNvSpPr/>
          <p:nvPr/>
        </p:nvSpPr>
        <p:spPr>
          <a:xfrm>
            <a:off x="8412555" y="2180117"/>
            <a:ext cx="30633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15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Scale and export each lattice independently.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1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32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549" name="Google Shape;549;p31"/>
          <p:cNvSpPr/>
          <p:nvPr/>
        </p:nvSpPr>
        <p:spPr>
          <a:xfrm>
            <a:off x="822960" y="1573269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C7C"/>
              </a:buClr>
              <a:buSzPts val="14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CHAPTER 1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1"/>
          <p:cNvSpPr/>
          <p:nvPr/>
        </p:nvSpPr>
        <p:spPr>
          <a:xfrm>
            <a:off x="822960" y="1984749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lang="en-GB" sz="36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Discover</a:t>
            </a:r>
            <a:endParaRPr sz="36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1"/>
          <p:cNvSpPr/>
          <p:nvPr/>
        </p:nvSpPr>
        <p:spPr>
          <a:xfrm>
            <a:off x="822960" y="2899149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CEDC"/>
              </a:buClr>
              <a:buSzPts val="14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Run single-lattice processing first, use DUI2's visualisation tools to confirm a second lattice, then re-index and split the tree.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1"/>
          <p:cNvSpPr/>
          <p:nvPr/>
        </p:nvSpPr>
        <p:spPr>
          <a:xfrm>
            <a:off x="822960" y="3904989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ADC4"/>
              </a:buClr>
              <a:buSzPts val="12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Import images     ·     Find spots     ·     Index (single lattice)     ·     Clone &amp; re-index     ·     Split experiments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2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33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559" name="Google Shape;559;p32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2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Georgia"/>
                <a:ea typeface="Georgia"/>
                <a:cs typeface="Georgia"/>
                <a:sym typeface="Georgia"/>
              </a:rPr>
              <a:t>CHAPTER 1 · DISCOVER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2"/>
          <p:cNvSpPr/>
          <p:nvPr/>
        </p:nvSpPr>
        <p:spPr>
          <a:xfrm>
            <a:off x="502920" y="960120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1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2"/>
          <p:cNvSpPr/>
          <p:nvPr/>
        </p:nvSpPr>
        <p:spPr>
          <a:xfrm>
            <a:off x="502920" y="1298448"/>
            <a:ext cx="5212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400"/>
              <a:buFont typeface="Georgia"/>
              <a:buNone/>
            </a:pPr>
            <a:r>
              <a:rPr lang="en-GB" sz="24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Import images</a:t>
            </a:r>
            <a:endParaRPr sz="24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2"/>
          <p:cNvSpPr/>
          <p:nvPr/>
        </p:nvSpPr>
        <p:spPr>
          <a:xfrm>
            <a:off x="548640" y="2110009"/>
            <a:ext cx="82200" cy="82200"/>
          </a:xfrm>
          <a:prstGeom prst="ellipse">
            <a:avLst/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2"/>
          <p:cNvSpPr/>
          <p:nvPr/>
        </p:nvSpPr>
        <p:spPr>
          <a:xfrm>
            <a:off x="777240" y="2018569"/>
            <a:ext cx="48921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When DUI2 starts, an incomplete dials.import node is already highlighted in the history tree.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2"/>
          <p:cNvSpPr/>
          <p:nvPr/>
        </p:nvSpPr>
        <p:spPr>
          <a:xfrm>
            <a:off x="548640" y="2996977"/>
            <a:ext cx="82200" cy="82200"/>
          </a:xfrm>
          <a:prstGeom prst="ellipse">
            <a:avLst/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2"/>
          <p:cNvSpPr/>
          <p:nvPr/>
        </p:nvSpPr>
        <p:spPr>
          <a:xfrm>
            <a:off x="777240" y="2905537"/>
            <a:ext cx="48921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Click "Open images", navigate to the image directory, and select one CBF file, then click Run.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2"/>
          <p:cNvSpPr/>
          <p:nvPr/>
        </p:nvSpPr>
        <p:spPr>
          <a:xfrm>
            <a:off x="502925" y="3929676"/>
            <a:ext cx="5212200" cy="914400"/>
          </a:xfrm>
          <a:prstGeom prst="roundRect">
            <a:avLst>
              <a:gd name="adj" fmla="val 7059"/>
            </a:avLst>
          </a:prstGeom>
          <a:solidFill>
            <a:srgbClr val="F1F4F7"/>
          </a:solidFill>
          <a:ln w="9525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2"/>
          <p:cNvSpPr/>
          <p:nvPr/>
        </p:nvSpPr>
        <p:spPr>
          <a:xfrm>
            <a:off x="731520" y="4048537"/>
            <a:ext cx="4755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15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The log confirms 100 images interpreted as a single sweep, written to imported.expt.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2"/>
          <p:cNvSpPr/>
          <p:nvPr/>
        </p:nvSpPr>
        <p:spPr>
          <a:xfrm>
            <a:off x="5934456" y="1501663"/>
            <a:ext cx="6099000" cy="3594000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1B2A4A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0" name="Google Shape;570;p32" descr="/home/claude/dui2_pptx/images/Screenshot_import_multi_lat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9320" y="1556527"/>
            <a:ext cx="5989321" cy="3484404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32"/>
          <p:cNvSpPr/>
          <p:nvPr/>
        </p:nvSpPr>
        <p:spPr>
          <a:xfrm>
            <a:off x="5989320" y="5150659"/>
            <a:ext cx="5989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0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The DUI window at start up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3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34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578" name="Google Shape;578;p33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3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Georgia"/>
                <a:ea typeface="Georgia"/>
                <a:cs typeface="Georgia"/>
                <a:sym typeface="Georgia"/>
              </a:rPr>
              <a:t>CHAPTER 1 · DISCOVER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3"/>
          <p:cNvSpPr/>
          <p:nvPr/>
        </p:nvSpPr>
        <p:spPr>
          <a:xfrm>
            <a:off x="502920" y="960120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2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3"/>
          <p:cNvSpPr/>
          <p:nvPr/>
        </p:nvSpPr>
        <p:spPr>
          <a:xfrm>
            <a:off x="502920" y="1298448"/>
            <a:ext cx="5212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400"/>
              <a:buFont typeface="Georgia"/>
              <a:buNone/>
            </a:pPr>
            <a:r>
              <a:rPr lang="en-GB" sz="24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Find spots</a:t>
            </a:r>
            <a:endParaRPr sz="24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3"/>
          <p:cNvSpPr/>
          <p:nvPr/>
        </p:nvSpPr>
        <p:spPr>
          <a:xfrm>
            <a:off x="548640" y="2078695"/>
            <a:ext cx="82200" cy="82200"/>
          </a:xfrm>
          <a:prstGeom prst="ellipse">
            <a:avLst/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3"/>
          <p:cNvSpPr/>
          <p:nvPr/>
        </p:nvSpPr>
        <p:spPr>
          <a:xfrm>
            <a:off x="777240" y="1987255"/>
            <a:ext cx="4892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Select "find spots" from the left-hand panel.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3"/>
          <p:cNvSpPr/>
          <p:nvPr/>
        </p:nvSpPr>
        <p:spPr>
          <a:xfrm>
            <a:off x="548640" y="2471887"/>
            <a:ext cx="82200" cy="82200"/>
          </a:xfrm>
          <a:prstGeom prst="ellipse">
            <a:avLst/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3"/>
          <p:cNvSpPr/>
          <p:nvPr/>
        </p:nvSpPr>
        <p:spPr>
          <a:xfrm>
            <a:off x="777240" y="2380447"/>
            <a:ext cx="48921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Under the Advanced tab, use the search box to find and set min_spot_size → 3.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3"/>
          <p:cNvSpPr/>
          <p:nvPr/>
        </p:nvSpPr>
        <p:spPr>
          <a:xfrm>
            <a:off x="544678" y="3095055"/>
            <a:ext cx="5128694" cy="1598412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 w="9525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3"/>
          <p:cNvSpPr/>
          <p:nvPr/>
        </p:nvSpPr>
        <p:spPr>
          <a:xfrm>
            <a:off x="731520" y="3276559"/>
            <a:ext cx="4755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15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This removes very small pixel islands that are not genuine Bragg spots. Click Run — the log reports a large number of spots found across 100 images.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3"/>
          <p:cNvSpPr/>
          <p:nvPr/>
        </p:nvSpPr>
        <p:spPr>
          <a:xfrm>
            <a:off x="5934456" y="1470348"/>
            <a:ext cx="6099000" cy="3594000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1B2A4A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9" name="Google Shape;589;p33" descr="/home/claude/dui2_pptx/images/Screenshot_min_spot_search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9320" y="1525212"/>
            <a:ext cx="5989321" cy="348440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33"/>
          <p:cNvSpPr/>
          <p:nvPr/>
        </p:nvSpPr>
        <p:spPr>
          <a:xfrm>
            <a:off x="5989320" y="5119346"/>
            <a:ext cx="5989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0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Setting min_spot_size in the Advanced tab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35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596" name="Google Shape;596;p4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Georgia"/>
                <a:ea typeface="Georgia"/>
                <a:cs typeface="Georgia"/>
                <a:sym typeface="Georgia"/>
              </a:rPr>
              <a:t>CHAPTER 1 · DISCOVER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4"/>
          <p:cNvSpPr/>
          <p:nvPr/>
        </p:nvSpPr>
        <p:spPr>
          <a:xfrm>
            <a:off x="502920" y="91440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3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4"/>
          <p:cNvSpPr/>
          <p:nvPr/>
        </p:nvSpPr>
        <p:spPr>
          <a:xfrm>
            <a:off x="502920" y="1207008"/>
            <a:ext cx="11155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lang="en-GB" sz="22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Index — single lattice first</a:t>
            </a:r>
            <a:endParaRPr sz="22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4"/>
          <p:cNvSpPr/>
          <p:nvPr/>
        </p:nvSpPr>
        <p:spPr>
          <a:xfrm>
            <a:off x="548640" y="2370967"/>
            <a:ext cx="82200" cy="82200"/>
          </a:xfrm>
          <a:prstGeom prst="ellipse">
            <a:avLst/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4"/>
          <p:cNvSpPr/>
          <p:nvPr/>
        </p:nvSpPr>
        <p:spPr>
          <a:xfrm>
            <a:off x="777240" y="1976815"/>
            <a:ext cx="48921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Select "index" and click Run with default parameters. Evidence for a second lattice shows up across the visualisation tabs — starting with the Image tab: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4"/>
          <p:cNvSpPr/>
          <p:nvPr/>
        </p:nvSpPr>
        <p:spPr>
          <a:xfrm>
            <a:off x="5934456" y="1459909"/>
            <a:ext cx="6099000" cy="3594000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1B2A4A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3" name="Google Shape;60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9320" y="1514773"/>
            <a:ext cx="5989272" cy="3484272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"/>
          <p:cNvSpPr/>
          <p:nvPr/>
        </p:nvSpPr>
        <p:spPr>
          <a:xfrm>
            <a:off x="5934456" y="5108909"/>
            <a:ext cx="6099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0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"Image" tab — predictions match one orientation; a systematic set of strong spots remains unpredicted.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1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36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610" name="Google Shape;610;p11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1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Georgia"/>
                <a:ea typeface="Georgia"/>
                <a:cs typeface="Georgia"/>
                <a:sym typeface="Georgia"/>
              </a:rPr>
              <a:t>CHAPTER 1 · DISCOVER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1"/>
          <p:cNvSpPr/>
          <p:nvPr/>
        </p:nvSpPr>
        <p:spPr>
          <a:xfrm>
            <a:off x="502920" y="91440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3 (continued)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1"/>
          <p:cNvSpPr/>
          <p:nvPr/>
        </p:nvSpPr>
        <p:spPr>
          <a:xfrm>
            <a:off x="502920" y="1207008"/>
            <a:ext cx="11155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lang="en-GB" sz="22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Index — single lattice first</a:t>
            </a:r>
            <a:endParaRPr sz="22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1"/>
          <p:cNvSpPr/>
          <p:nvPr/>
        </p:nvSpPr>
        <p:spPr>
          <a:xfrm>
            <a:off x="548640" y="2068256"/>
            <a:ext cx="82200" cy="82200"/>
          </a:xfrm>
          <a:prstGeom prst="ellipse">
            <a:avLst/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1"/>
          <p:cNvSpPr/>
          <p:nvPr/>
        </p:nvSpPr>
        <p:spPr>
          <a:xfrm>
            <a:off x="777240" y="1976816"/>
            <a:ext cx="4892100" cy="2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The Log tab tells the same story: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1"/>
          <p:cNvSpPr/>
          <p:nvPr/>
        </p:nvSpPr>
        <p:spPr>
          <a:xfrm>
            <a:off x="5934456" y="1459910"/>
            <a:ext cx="6099000" cy="3594000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1B2A4A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7" name="Google Shape;61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9320" y="1514774"/>
            <a:ext cx="5989272" cy="3484272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11"/>
          <p:cNvSpPr/>
          <p:nvPr/>
        </p:nvSpPr>
        <p:spPr>
          <a:xfrm>
            <a:off x="5934456" y="5108910"/>
            <a:ext cx="6099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0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"Log" tab — the fraction of indexed spots is noticeably lower than the 80–95% expected for a clean dataset.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9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37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624" name="Google Shape;624;p59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59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Georgia"/>
                <a:ea typeface="Georgia"/>
                <a:cs typeface="Georgia"/>
                <a:sym typeface="Georgia"/>
              </a:rPr>
              <a:t>CHAPTER 1 · DISCOVER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59"/>
          <p:cNvSpPr/>
          <p:nvPr/>
        </p:nvSpPr>
        <p:spPr>
          <a:xfrm>
            <a:off x="502920" y="91440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3 (continued)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59"/>
          <p:cNvSpPr/>
          <p:nvPr/>
        </p:nvSpPr>
        <p:spPr>
          <a:xfrm>
            <a:off x="502920" y="1207008"/>
            <a:ext cx="11155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lang="en-GB" sz="22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Index — single lattice first</a:t>
            </a:r>
            <a:endParaRPr sz="22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59"/>
          <p:cNvSpPr/>
          <p:nvPr/>
        </p:nvSpPr>
        <p:spPr>
          <a:xfrm>
            <a:off x="548640" y="2089132"/>
            <a:ext cx="82200" cy="82200"/>
          </a:xfrm>
          <a:prstGeom prst="ellipse">
            <a:avLst/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9"/>
          <p:cNvSpPr/>
          <p:nvPr/>
        </p:nvSpPr>
        <p:spPr>
          <a:xfrm>
            <a:off x="777240" y="1976815"/>
            <a:ext cx="4892100" cy="1634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The remaining two tabs make the second lattice unmistakable — starting with the Report tab: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59"/>
          <p:cNvSpPr/>
          <p:nvPr/>
        </p:nvSpPr>
        <p:spPr>
          <a:xfrm>
            <a:off x="5934456" y="1459909"/>
            <a:ext cx="6099000" cy="3594000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1B2A4A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1" name="Google Shape;631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9320" y="1514773"/>
            <a:ext cx="5989272" cy="3484272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59"/>
          <p:cNvSpPr/>
          <p:nvPr/>
        </p:nvSpPr>
        <p:spPr>
          <a:xfrm>
            <a:off x="5934456" y="5108909"/>
            <a:ext cx="6099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0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"Report" tab — Spot count per image: only around half the found spots appear as indexed.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0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38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638" name="Google Shape;638;p60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60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Georgia"/>
                <a:ea typeface="Georgia"/>
                <a:cs typeface="Georgia"/>
                <a:sym typeface="Georgia"/>
              </a:rPr>
              <a:t>CHAPTER 1 · DISCOVER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60"/>
          <p:cNvSpPr/>
          <p:nvPr/>
        </p:nvSpPr>
        <p:spPr>
          <a:xfrm>
            <a:off x="502920" y="91440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3 (continued)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60"/>
          <p:cNvSpPr/>
          <p:nvPr/>
        </p:nvSpPr>
        <p:spPr>
          <a:xfrm>
            <a:off x="502920" y="1207008"/>
            <a:ext cx="11155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lang="en-GB" sz="22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Index — single lattice first</a:t>
            </a:r>
            <a:endParaRPr sz="22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60"/>
          <p:cNvSpPr/>
          <p:nvPr/>
        </p:nvSpPr>
        <p:spPr>
          <a:xfrm>
            <a:off x="548640" y="2068256"/>
            <a:ext cx="82200" cy="82200"/>
          </a:xfrm>
          <a:prstGeom prst="ellipse">
            <a:avLst/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60"/>
          <p:cNvSpPr/>
          <p:nvPr/>
        </p:nvSpPr>
        <p:spPr>
          <a:xfrm>
            <a:off x="777240" y="1976816"/>
            <a:ext cx="4892100" cy="2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The Reciprocal lattice tab confirms it: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60"/>
          <p:cNvSpPr/>
          <p:nvPr/>
        </p:nvSpPr>
        <p:spPr>
          <a:xfrm>
            <a:off x="5934456" y="1459910"/>
            <a:ext cx="6099000" cy="3594000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1B2A4A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5" name="Google Shape;645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9320" y="1514774"/>
            <a:ext cx="5989272" cy="3484272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60"/>
          <p:cNvSpPr/>
          <p:nvPr/>
        </p:nvSpPr>
        <p:spPr>
          <a:xfrm>
            <a:off x="5934456" y="5108910"/>
            <a:ext cx="6099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0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"Reciprocal lattice" tab — unindexed spots form their own ordered rows: the signature of a second lattice.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1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39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652" name="Google Shape;652;p61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61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Georgia"/>
                <a:ea typeface="Georgia"/>
                <a:cs typeface="Georgia"/>
                <a:sym typeface="Georgia"/>
              </a:rPr>
              <a:t>CHAPTER 1 · DISCOVER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61"/>
          <p:cNvSpPr/>
          <p:nvPr/>
        </p:nvSpPr>
        <p:spPr>
          <a:xfrm>
            <a:off x="502920" y="91440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4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61"/>
          <p:cNvSpPr/>
          <p:nvPr/>
        </p:nvSpPr>
        <p:spPr>
          <a:xfrm>
            <a:off x="502920" y="1207008"/>
            <a:ext cx="11155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lang="en-GB" sz="22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Clone and </a:t>
            </a:r>
            <a:r>
              <a:rPr lang="en-GB" sz="2200" b="1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Index</a:t>
            </a:r>
            <a:r>
              <a:rPr lang="en-GB" sz="22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 again, but with two lattices</a:t>
            </a:r>
            <a:endParaRPr sz="22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61"/>
          <p:cNvSpPr/>
          <p:nvPr/>
        </p:nvSpPr>
        <p:spPr>
          <a:xfrm>
            <a:off x="548640" y="2423160"/>
            <a:ext cx="82200" cy="82200"/>
          </a:xfrm>
          <a:prstGeom prst="ellipse">
            <a:avLst/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61"/>
          <p:cNvSpPr/>
          <p:nvPr/>
        </p:nvSpPr>
        <p:spPr>
          <a:xfrm>
            <a:off x="777240" y="2154268"/>
            <a:ext cx="4892100" cy="10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With the index node selected, click "Clone" — this creates an independent copy branching from the same find-spots input; the original single-lattice node is preserved as a reference.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61"/>
          <p:cNvSpPr/>
          <p:nvPr/>
        </p:nvSpPr>
        <p:spPr>
          <a:xfrm>
            <a:off x="5934456" y="1637362"/>
            <a:ext cx="6099000" cy="3594000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1B2A4A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9" name="Google Shape;659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9320" y="1692226"/>
            <a:ext cx="5989272" cy="3484272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61"/>
          <p:cNvSpPr/>
          <p:nvPr/>
        </p:nvSpPr>
        <p:spPr>
          <a:xfrm>
            <a:off x="5934456" y="5286362"/>
            <a:ext cx="6099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0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Cloning the index node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2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40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666" name="Google Shape;666;p62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62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Georgia"/>
                <a:ea typeface="Georgia"/>
                <a:cs typeface="Georgia"/>
                <a:sym typeface="Georgia"/>
              </a:rPr>
              <a:t>CHAPTER 1 · DISCOVER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62"/>
          <p:cNvSpPr/>
          <p:nvPr/>
        </p:nvSpPr>
        <p:spPr>
          <a:xfrm>
            <a:off x="502920" y="91440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4 (continued)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62"/>
          <p:cNvSpPr/>
          <p:nvPr/>
        </p:nvSpPr>
        <p:spPr>
          <a:xfrm>
            <a:off x="548640" y="2423160"/>
            <a:ext cx="82200" cy="82200"/>
          </a:xfrm>
          <a:prstGeom prst="ellipse">
            <a:avLst/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62"/>
          <p:cNvSpPr/>
          <p:nvPr/>
        </p:nvSpPr>
        <p:spPr>
          <a:xfrm>
            <a:off x="777240" y="2154268"/>
            <a:ext cx="4892100" cy="1880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In the cloned node's Advanced tab, set max_lattices → 5, then click Run. DIALS searches for up to five lattices but stops once no more can be justified — here it finds exactly two, accounting for ~95% of all strong spots.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62"/>
          <p:cNvSpPr/>
          <p:nvPr/>
        </p:nvSpPr>
        <p:spPr>
          <a:xfrm>
            <a:off x="5934456" y="1637362"/>
            <a:ext cx="6099000" cy="3594000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1B2A4A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2" name="Google Shape;672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9320" y="1692226"/>
            <a:ext cx="5989272" cy="3484272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62"/>
          <p:cNvSpPr/>
          <p:nvPr/>
        </p:nvSpPr>
        <p:spPr>
          <a:xfrm>
            <a:off x="5934456" y="5286362"/>
            <a:ext cx="6099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0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Setting max_lattices in the Advanced tab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62"/>
          <p:cNvSpPr/>
          <p:nvPr/>
        </p:nvSpPr>
        <p:spPr>
          <a:xfrm>
            <a:off x="502920" y="1207008"/>
            <a:ext cx="11155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lang="en-GB" sz="22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Clone and </a:t>
            </a:r>
            <a:r>
              <a:rPr lang="en-GB" sz="2200" b="1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Index</a:t>
            </a:r>
            <a:r>
              <a:rPr lang="en-GB" sz="22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 again, but with two lattices</a:t>
            </a:r>
            <a:endParaRPr sz="22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7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41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681" name="Google Shape;681;p37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7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Georgia"/>
                <a:ea typeface="Georgia"/>
                <a:cs typeface="Georgia"/>
                <a:sym typeface="Georgia"/>
              </a:rPr>
              <a:t>CHAPTER 1 · DISCOVER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7"/>
          <p:cNvSpPr/>
          <p:nvPr/>
        </p:nvSpPr>
        <p:spPr>
          <a:xfrm>
            <a:off x="502920" y="960120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4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7"/>
          <p:cNvSpPr/>
          <p:nvPr/>
        </p:nvSpPr>
        <p:spPr>
          <a:xfrm>
            <a:off x="502920" y="1298448"/>
            <a:ext cx="5212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400"/>
              <a:buFont typeface="Georgia"/>
              <a:buNone/>
            </a:pPr>
            <a:r>
              <a:rPr lang="en-GB" sz="24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Result of new index step</a:t>
            </a:r>
            <a:endParaRPr sz="24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7"/>
          <p:cNvSpPr/>
          <p:nvPr/>
        </p:nvSpPr>
        <p:spPr>
          <a:xfrm>
            <a:off x="548640" y="2005626"/>
            <a:ext cx="82200" cy="82200"/>
          </a:xfrm>
          <a:prstGeom prst="ellipse">
            <a:avLst/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7"/>
          <p:cNvSpPr/>
          <p:nvPr/>
        </p:nvSpPr>
        <p:spPr>
          <a:xfrm>
            <a:off x="777240" y="1914186"/>
            <a:ext cx="48921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After re-indexing with max_lattices=5, the log reports two refined crystal models.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7"/>
          <p:cNvSpPr/>
          <p:nvPr/>
        </p:nvSpPr>
        <p:spPr>
          <a:xfrm>
            <a:off x="548640" y="2945706"/>
            <a:ext cx="82200" cy="82200"/>
          </a:xfrm>
          <a:prstGeom prst="ellipse">
            <a:avLst/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7"/>
          <p:cNvSpPr/>
          <p:nvPr/>
        </p:nvSpPr>
        <p:spPr>
          <a:xfrm>
            <a:off x="777240" y="2854266"/>
            <a:ext cx="48921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Together they account for roughly 95% of all strong spots.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7"/>
          <p:cNvSpPr/>
          <p:nvPr/>
        </p:nvSpPr>
        <p:spPr>
          <a:xfrm>
            <a:off x="502925" y="3631516"/>
            <a:ext cx="5212200" cy="1192500"/>
          </a:xfrm>
          <a:prstGeom prst="roundRect">
            <a:avLst>
              <a:gd name="adj" fmla="val 7059"/>
            </a:avLst>
          </a:prstGeom>
          <a:solidFill>
            <a:srgbClr val="F1F4F7"/>
          </a:solidFill>
          <a:ln w="9525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7"/>
          <p:cNvSpPr/>
          <p:nvPr/>
        </p:nvSpPr>
        <p:spPr>
          <a:xfrm>
            <a:off x="731520" y="3750378"/>
            <a:ext cx="4755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15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Two clearly distinct orientation families, each forming clean rows, with very few unindexed spots remaining.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7"/>
          <p:cNvSpPr/>
          <p:nvPr/>
        </p:nvSpPr>
        <p:spPr>
          <a:xfrm>
            <a:off x="5945639" y="922062"/>
            <a:ext cx="6076800" cy="4544700"/>
          </a:xfrm>
          <a:prstGeom prst="roundRect">
            <a:avLst>
              <a:gd name="adj" fmla="val 805"/>
            </a:avLst>
          </a:prstGeom>
          <a:solidFill>
            <a:srgbClr val="FFFFFF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1B2A4A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2" name="Google Shape;692;p37" descr="/home/claude/dui2_pptx/images/Screenshot_index_n_2_RL_vie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0503" y="976926"/>
            <a:ext cx="5966955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37"/>
          <p:cNvSpPr/>
          <p:nvPr/>
        </p:nvSpPr>
        <p:spPr>
          <a:xfrm>
            <a:off x="5989320" y="5521494"/>
            <a:ext cx="5989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0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Reciprocal lattice viewer after indexing with two lattices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3"/>
          <p:cNvSpPr txBox="1">
            <a:spLocks noGrp="1"/>
          </p:cNvSpPr>
          <p:nvPr>
            <p:ph type="sldNum" idx="12"/>
          </p:nvPr>
        </p:nvSpPr>
        <p:spPr>
          <a:xfrm>
            <a:off x="10547504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42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699" name="Google Shape;699;p63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63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Georgia"/>
                <a:ea typeface="Georgia"/>
                <a:cs typeface="Georgia"/>
                <a:sym typeface="Georgia"/>
              </a:rPr>
              <a:t>CHAPTER 1 · DISCOVER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63"/>
          <p:cNvSpPr/>
          <p:nvPr/>
        </p:nvSpPr>
        <p:spPr>
          <a:xfrm>
            <a:off x="502920" y="91440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5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63"/>
          <p:cNvSpPr/>
          <p:nvPr/>
        </p:nvSpPr>
        <p:spPr>
          <a:xfrm>
            <a:off x="502920" y="1207008"/>
            <a:ext cx="11155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lang="en-GB" sz="22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Split experiments</a:t>
            </a:r>
            <a:endParaRPr sz="22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63"/>
          <p:cNvSpPr/>
          <p:nvPr/>
        </p:nvSpPr>
        <p:spPr>
          <a:xfrm>
            <a:off x="4554520" y="1911696"/>
            <a:ext cx="7374900" cy="3586200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212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  <a:effectLst>
            <a:outerShdw blurRad="169698" dist="63637" dir="5400000" algn="bl" rotWithShape="0">
              <a:srgbClr val="1B2A4A">
                <a:alpha val="25098"/>
              </a:srgbClr>
            </a:outerShdw>
          </a:effectLst>
        </p:spPr>
        <p:txBody>
          <a:bodyPr spcFirstLastPara="1" wrap="square" lIns="152700" tIns="152700" rIns="152700" bIns="15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8"/>
              <a:buFont typeface="Arial"/>
              <a:buNone/>
            </a:pPr>
            <a:endParaRPr sz="2338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4" name="Google Shape;704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6157" y="2003333"/>
            <a:ext cx="7191507" cy="3403094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63"/>
          <p:cNvSpPr/>
          <p:nvPr/>
        </p:nvSpPr>
        <p:spPr>
          <a:xfrm>
            <a:off x="7513943" y="5552996"/>
            <a:ext cx="44154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0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Image view — branch 0 (lattice 0)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63"/>
          <p:cNvSpPr/>
          <p:nvPr/>
        </p:nvSpPr>
        <p:spPr>
          <a:xfrm>
            <a:off x="203352" y="1730796"/>
            <a:ext cx="3950700" cy="35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Georgia"/>
              <a:buChar char="●"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Select "split experiments" and click Run  DUI2 creates one independent child node per lattice, each showing only its own reflections when you open its Image tab.</a:t>
            </a:r>
            <a:endParaRPr sz="1800" b="0" i="0" u="none" strike="noStrike" cap="none">
              <a:solidFill>
                <a:srgbClr val="0000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Georgia"/>
              <a:buChar char="●"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Decision point: if a lattice fits poorly throughout the scan, there is no obligation to process it further. For this dataset, both branches look good.</a:t>
            </a:r>
            <a:endParaRPr sz="1800" b="0" i="0" u="none" strike="noStrike" cap="none">
              <a:solidFill>
                <a:srgbClr val="0000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64"/>
          <p:cNvSpPr txBox="1">
            <a:spLocks noGrp="1"/>
          </p:cNvSpPr>
          <p:nvPr>
            <p:ph type="sldNum" idx="12"/>
          </p:nvPr>
        </p:nvSpPr>
        <p:spPr>
          <a:xfrm>
            <a:off x="10534818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43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712" name="Google Shape;712;p64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64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Georgia"/>
                <a:ea typeface="Georgia"/>
                <a:cs typeface="Georgia"/>
                <a:sym typeface="Georgia"/>
              </a:rPr>
              <a:t>CHAPTER 1 · DISCOVER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64"/>
          <p:cNvSpPr/>
          <p:nvPr/>
        </p:nvSpPr>
        <p:spPr>
          <a:xfrm>
            <a:off x="502920" y="91440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5 (continued)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64"/>
          <p:cNvSpPr/>
          <p:nvPr/>
        </p:nvSpPr>
        <p:spPr>
          <a:xfrm>
            <a:off x="502920" y="1207008"/>
            <a:ext cx="11155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lang="en-GB" sz="22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Split experiments</a:t>
            </a:r>
            <a:endParaRPr sz="22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64"/>
          <p:cNvSpPr/>
          <p:nvPr/>
        </p:nvSpPr>
        <p:spPr>
          <a:xfrm>
            <a:off x="203352" y="1730794"/>
            <a:ext cx="3950700" cy="35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Georgia"/>
              <a:buChar char="●"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Select "split experiments" and click Run  DUI2 creates one independent child node per lattice, each showing only its own reflections when you open its Image tab.</a:t>
            </a:r>
            <a:endParaRPr sz="1800" b="0" i="0" u="none" strike="noStrike" cap="none">
              <a:solidFill>
                <a:srgbClr val="0000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Georgia"/>
              <a:buChar char="●"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Decision point: if a lattice fits poorly throughout the scan, there is no obligation to process it further. For this dataset, both branches look good.</a:t>
            </a:r>
            <a:endParaRPr sz="1800" b="0" i="0" u="none" strike="noStrike" cap="none">
              <a:solidFill>
                <a:srgbClr val="0000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7" name="Google Shape;717;p64"/>
          <p:cNvSpPr/>
          <p:nvPr/>
        </p:nvSpPr>
        <p:spPr>
          <a:xfrm>
            <a:off x="4554520" y="1911694"/>
            <a:ext cx="7374900" cy="3586200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212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  <a:effectLst>
            <a:outerShdw blurRad="169698" dist="63637" dir="5400000" algn="bl" rotWithShape="0">
              <a:srgbClr val="1B2A4A">
                <a:alpha val="25098"/>
              </a:srgbClr>
            </a:outerShdw>
          </a:effectLst>
        </p:spPr>
        <p:txBody>
          <a:bodyPr spcFirstLastPara="1" wrap="square" lIns="152700" tIns="152700" rIns="152700" bIns="15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8"/>
              <a:buFont typeface="Arial"/>
              <a:buNone/>
            </a:pPr>
            <a:endParaRPr sz="2338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8" name="Google Shape;718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6157" y="2003331"/>
            <a:ext cx="7191507" cy="3403094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64"/>
          <p:cNvSpPr/>
          <p:nvPr/>
        </p:nvSpPr>
        <p:spPr>
          <a:xfrm>
            <a:off x="7513943" y="5552994"/>
            <a:ext cx="44154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0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Image view — branch 1 (lattice 1)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9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44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726" name="Google Shape;726;p39"/>
          <p:cNvSpPr/>
          <p:nvPr/>
        </p:nvSpPr>
        <p:spPr>
          <a:xfrm>
            <a:off x="822960" y="1541954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4FB6"/>
              </a:buClr>
              <a:buSzPts val="14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CHAPTER 2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9"/>
          <p:cNvSpPr/>
          <p:nvPr/>
        </p:nvSpPr>
        <p:spPr>
          <a:xfrm>
            <a:off x="822960" y="1953434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lang="en-GB" sz="36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Process</a:t>
            </a:r>
            <a:endParaRPr sz="36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9"/>
          <p:cNvSpPr/>
          <p:nvPr/>
        </p:nvSpPr>
        <p:spPr>
          <a:xfrm>
            <a:off x="822960" y="2867834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CEDC"/>
              </a:buClr>
              <a:buSzPts val="14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From here the two branches are independent. Work through Bravais settings, refinement, and integration on each in turn.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9"/>
          <p:cNvSpPr/>
          <p:nvPr/>
        </p:nvSpPr>
        <p:spPr>
          <a:xfrm>
            <a:off x="822960" y="3873674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ADC4"/>
              </a:buClr>
              <a:buSzPts val="12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Refine Bravais settings     ·     Reindex     ·     Refine     ·     Integrate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0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45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736" name="Google Shape;736;p40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6A4F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0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Georgia"/>
                <a:ea typeface="Georgia"/>
                <a:cs typeface="Georgia"/>
                <a:sym typeface="Georgia"/>
              </a:rPr>
              <a:t>CHAPTER 2 · PROCESS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40"/>
          <p:cNvSpPr/>
          <p:nvPr/>
        </p:nvSpPr>
        <p:spPr>
          <a:xfrm>
            <a:off x="502920" y="960120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6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0"/>
          <p:cNvSpPr/>
          <p:nvPr/>
        </p:nvSpPr>
        <p:spPr>
          <a:xfrm>
            <a:off x="502920" y="1298448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Georgia"/>
              <a:buNone/>
            </a:pPr>
            <a:r>
              <a:rPr lang="en-GB" sz="26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Refine Bravais settings</a:t>
            </a:r>
            <a:endParaRPr sz="26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40"/>
          <p:cNvSpPr/>
          <p:nvPr/>
        </p:nvSpPr>
        <p:spPr>
          <a:xfrm>
            <a:off x="502920" y="2148840"/>
            <a:ext cx="77724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With a branch node selected in the history tree, select "refine bravais settings" and click Run.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40"/>
          <p:cNvSpPr/>
          <p:nvPr/>
        </p:nvSpPr>
        <p:spPr>
          <a:xfrm>
            <a:off x="502920" y="306324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 w="9525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0"/>
          <p:cNvSpPr/>
          <p:nvPr/>
        </p:nvSpPr>
        <p:spPr>
          <a:xfrm>
            <a:off x="731520" y="3200400"/>
            <a:ext cx="77724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A table of candidate Bravais lattice solutions is written to the log.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40"/>
          <p:cNvSpPr/>
          <p:nvPr/>
        </p:nvSpPr>
        <p:spPr>
          <a:xfrm>
            <a:off x="502920" y="429768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2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Repeat on branch 0, then branch 1 — the steps in this chapter are identical for both.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1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46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750" name="Google Shape;750;p41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6A4F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41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Georgia"/>
                <a:ea typeface="Georgia"/>
                <a:cs typeface="Georgia"/>
                <a:sym typeface="Georgia"/>
              </a:rPr>
              <a:t>CHAPTER 2 · PROCESS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41"/>
          <p:cNvSpPr/>
          <p:nvPr/>
        </p:nvSpPr>
        <p:spPr>
          <a:xfrm>
            <a:off x="502920" y="960120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7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41"/>
          <p:cNvSpPr/>
          <p:nvPr/>
        </p:nvSpPr>
        <p:spPr>
          <a:xfrm>
            <a:off x="502920" y="1298448"/>
            <a:ext cx="5212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400"/>
              <a:buFont typeface="Georgia"/>
              <a:buNone/>
            </a:pPr>
            <a:r>
              <a:rPr lang="en-GB" sz="24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Reindex</a:t>
            </a:r>
            <a:endParaRPr sz="24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1"/>
          <p:cNvSpPr/>
          <p:nvPr/>
        </p:nvSpPr>
        <p:spPr>
          <a:xfrm>
            <a:off x="548640" y="2099571"/>
            <a:ext cx="82200" cy="82200"/>
          </a:xfrm>
          <a:prstGeom prst="ellipse">
            <a:avLst/>
          </a:prstGeom>
          <a:solidFill>
            <a:srgbClr val="6A4F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41"/>
          <p:cNvSpPr/>
          <p:nvPr/>
        </p:nvSpPr>
        <p:spPr>
          <a:xfrm>
            <a:off x="777240" y="2008131"/>
            <a:ext cx="48921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Select "reindex". DUI2 displays an interactive table of the solutions from the previous step.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41"/>
          <p:cNvSpPr/>
          <p:nvPr/>
        </p:nvSpPr>
        <p:spPr>
          <a:xfrm>
            <a:off x="548640" y="2986539"/>
            <a:ext cx="82200" cy="82200"/>
          </a:xfrm>
          <a:prstGeom prst="ellipse">
            <a:avLst/>
          </a:prstGeom>
          <a:solidFill>
            <a:srgbClr val="6A4F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1"/>
          <p:cNvSpPr/>
          <p:nvPr/>
        </p:nvSpPr>
        <p:spPr>
          <a:xfrm>
            <a:off x="777240" y="2895099"/>
            <a:ext cx="48921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Click the row for solution 5 — primitive orthorhombic (oP, P 2 2 2) — and DUI2 runs dials.reindex automatically.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41"/>
          <p:cNvSpPr/>
          <p:nvPr/>
        </p:nvSpPr>
        <p:spPr>
          <a:xfrm>
            <a:off x="544678" y="3919241"/>
            <a:ext cx="5128694" cy="1947858"/>
          </a:xfrm>
          <a:prstGeom prst="roundRect">
            <a:avLst>
              <a:gd name="adj" fmla="val 5217"/>
            </a:avLst>
          </a:prstGeom>
          <a:solidFill>
            <a:srgbClr val="F1F4F7"/>
          </a:solidFill>
          <a:ln w="9525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1"/>
          <p:cNvSpPr/>
          <p:nvPr/>
        </p:nvSpPr>
        <p:spPr>
          <a:xfrm>
            <a:off x="731520" y="4038099"/>
            <a:ext cx="4755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15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The chosen solution should have a metric fit significantly closer to zero than the others, and be marked acceptable. If the highest-symmetry acceptable solution differs between branches, investigate before continuing.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41"/>
          <p:cNvSpPr/>
          <p:nvPr/>
        </p:nvSpPr>
        <p:spPr>
          <a:xfrm>
            <a:off x="5934456" y="1491225"/>
            <a:ext cx="6099000" cy="3594000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1B2A4A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1" name="Google Shape;761;p41" descr="/home/claude/dui2_pptx/images/Screenshot_reindex_branc_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9320" y="1546089"/>
            <a:ext cx="5989321" cy="3484404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41"/>
          <p:cNvSpPr/>
          <p:nvPr/>
        </p:nvSpPr>
        <p:spPr>
          <a:xfrm>
            <a:off x="5989320" y="5129782"/>
            <a:ext cx="5989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0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DUI2 about to run reindex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2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47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769" name="Google Shape;769;p42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6A4F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42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Georgia"/>
                <a:ea typeface="Georgia"/>
                <a:cs typeface="Georgia"/>
                <a:sym typeface="Georgia"/>
              </a:rPr>
              <a:t>CHAPTER 2 · PROCESS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2"/>
          <p:cNvSpPr/>
          <p:nvPr/>
        </p:nvSpPr>
        <p:spPr>
          <a:xfrm>
            <a:off x="502920" y="960120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8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2"/>
          <p:cNvSpPr/>
          <p:nvPr/>
        </p:nvSpPr>
        <p:spPr>
          <a:xfrm>
            <a:off x="502920" y="1298448"/>
            <a:ext cx="5212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400"/>
              <a:buFont typeface="Georgia"/>
              <a:buNone/>
            </a:pPr>
            <a:r>
              <a:rPr lang="en-GB" sz="24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Refine</a:t>
            </a:r>
            <a:endParaRPr sz="24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2"/>
          <p:cNvSpPr/>
          <p:nvPr/>
        </p:nvSpPr>
        <p:spPr>
          <a:xfrm>
            <a:off x="548640" y="2256147"/>
            <a:ext cx="82200" cy="82200"/>
          </a:xfrm>
          <a:prstGeom prst="ellipse">
            <a:avLst/>
          </a:prstGeom>
          <a:solidFill>
            <a:srgbClr val="6A4F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2"/>
          <p:cNvSpPr/>
          <p:nvPr/>
        </p:nvSpPr>
        <p:spPr>
          <a:xfrm>
            <a:off x="777240" y="2164707"/>
            <a:ext cx="48921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Select "refine". Under the Simple tab, set Outlier rejection algorithm → tukey.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2"/>
          <p:cNvSpPr/>
          <p:nvPr/>
        </p:nvSpPr>
        <p:spPr>
          <a:xfrm>
            <a:off x="548640" y="2896227"/>
            <a:ext cx="82200" cy="82200"/>
          </a:xfrm>
          <a:prstGeom prst="ellipse">
            <a:avLst/>
          </a:prstGeom>
          <a:solidFill>
            <a:srgbClr val="6A4F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42"/>
          <p:cNvSpPr/>
          <p:nvPr/>
        </p:nvSpPr>
        <p:spPr>
          <a:xfrm>
            <a:off x="777240" y="2804787"/>
            <a:ext cx="48921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Click Run — scan-static and scan-varying refinement run for this lattice.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2"/>
          <p:cNvSpPr/>
          <p:nvPr/>
        </p:nvSpPr>
        <p:spPr>
          <a:xfrm>
            <a:off x="502925" y="3582044"/>
            <a:ext cx="5212200" cy="1288500"/>
          </a:xfrm>
          <a:prstGeom prst="roundRect">
            <a:avLst>
              <a:gd name="adj" fmla="val 7059"/>
            </a:avLst>
          </a:prstGeom>
          <a:solidFill>
            <a:srgbClr val="F1F4F7"/>
          </a:solidFill>
          <a:ln w="9525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42"/>
          <p:cNvSpPr/>
          <p:nvPr/>
        </p:nvSpPr>
        <p:spPr>
          <a:xfrm>
            <a:off x="731520" y="3700899"/>
            <a:ext cx="4755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15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Check the Report tab: changes in cell parameters and orientation angles across the scan should look small and smooth.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42"/>
          <p:cNvSpPr/>
          <p:nvPr/>
        </p:nvSpPr>
        <p:spPr>
          <a:xfrm>
            <a:off x="5934456" y="1647801"/>
            <a:ext cx="6099000" cy="3594000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1B2A4A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0" name="Google Shape;780;p42" descr="/home/claude/dui2_pptx/images/Screenshot_refine_w_tukey_al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9320" y="1702665"/>
            <a:ext cx="5989321" cy="3484404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42"/>
          <p:cNvSpPr/>
          <p:nvPr/>
        </p:nvSpPr>
        <p:spPr>
          <a:xfrm>
            <a:off x="5989320" y="5296797"/>
            <a:ext cx="5989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0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DUI2 about to run refine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5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48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787" name="Google Shape;787;p65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6A4F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65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Georgia"/>
                <a:ea typeface="Georgia"/>
                <a:cs typeface="Georgia"/>
                <a:sym typeface="Georgia"/>
              </a:rPr>
              <a:t>CHAPTER 2 · PROCESS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65"/>
          <p:cNvSpPr/>
          <p:nvPr/>
        </p:nvSpPr>
        <p:spPr>
          <a:xfrm>
            <a:off x="502920" y="91440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9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65"/>
          <p:cNvSpPr/>
          <p:nvPr/>
        </p:nvSpPr>
        <p:spPr>
          <a:xfrm>
            <a:off x="502920" y="1207008"/>
            <a:ext cx="11155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lang="en-GB" sz="22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Integrate</a:t>
            </a:r>
            <a:endParaRPr sz="22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65"/>
          <p:cNvSpPr/>
          <p:nvPr/>
        </p:nvSpPr>
        <p:spPr>
          <a:xfrm>
            <a:off x="548640" y="2203954"/>
            <a:ext cx="82200" cy="82200"/>
          </a:xfrm>
          <a:prstGeom prst="ellipse">
            <a:avLst/>
          </a:prstGeom>
          <a:solidFill>
            <a:srgbClr val="6A4F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65"/>
          <p:cNvSpPr/>
          <p:nvPr/>
        </p:nvSpPr>
        <p:spPr>
          <a:xfrm>
            <a:off x="777240" y="2112514"/>
            <a:ext cx="4892100" cy="10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Select "integrate" and click Run with default parameters. Check the end of the log for "Summary for experiment 0" — I/σ(I) and cc_prf should look reasonable.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65"/>
          <p:cNvSpPr/>
          <p:nvPr/>
        </p:nvSpPr>
        <p:spPr>
          <a:xfrm>
            <a:off x="5934456" y="1595608"/>
            <a:ext cx="6099000" cy="3594000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1B2A4A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4" name="Google Shape;794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9320" y="1650472"/>
            <a:ext cx="5989272" cy="3484272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5"/>
          <p:cNvSpPr/>
          <p:nvPr/>
        </p:nvSpPr>
        <p:spPr>
          <a:xfrm>
            <a:off x="5934456" y="5244608"/>
            <a:ext cx="6099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0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Log view after integrating one branch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66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49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801" name="Google Shape;801;p66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6A4F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66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00FFFF"/>
                </a:solidFill>
                <a:latin typeface="Georgia"/>
                <a:ea typeface="Georgia"/>
                <a:cs typeface="Georgia"/>
                <a:sym typeface="Georgia"/>
              </a:rPr>
              <a:t>CHAPTER 2 · PROCESS</a:t>
            </a:r>
            <a:endParaRPr sz="1800" b="0" i="0" u="none" strike="noStrike" cap="non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66"/>
          <p:cNvSpPr/>
          <p:nvPr/>
        </p:nvSpPr>
        <p:spPr>
          <a:xfrm>
            <a:off x="502920" y="91440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9 (continued)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66"/>
          <p:cNvSpPr/>
          <p:nvPr/>
        </p:nvSpPr>
        <p:spPr>
          <a:xfrm>
            <a:off x="502920" y="1207008"/>
            <a:ext cx="11155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lang="en-GB" sz="22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Integrate</a:t>
            </a:r>
            <a:endParaRPr sz="22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66"/>
          <p:cNvSpPr/>
          <p:nvPr/>
        </p:nvSpPr>
        <p:spPr>
          <a:xfrm>
            <a:off x="548640" y="2193516"/>
            <a:ext cx="82200" cy="82200"/>
          </a:xfrm>
          <a:prstGeom prst="ellipse">
            <a:avLst/>
          </a:prstGeom>
          <a:solidFill>
            <a:srgbClr val="6A4F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66"/>
          <p:cNvSpPr/>
          <p:nvPr/>
        </p:nvSpPr>
        <p:spPr>
          <a:xfrm>
            <a:off x="777240" y="2102076"/>
            <a:ext cx="48921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Once steps 6–9 are complete on one branch, return to the split experiments node, select the other branch, and repeat.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66"/>
          <p:cNvSpPr/>
          <p:nvPr/>
        </p:nvSpPr>
        <p:spPr>
          <a:xfrm>
            <a:off x="5934456" y="1585170"/>
            <a:ext cx="6099000" cy="3594000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1B2A4A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8" name="Google Shape;80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9320" y="1640034"/>
            <a:ext cx="5989272" cy="3484272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66"/>
          <p:cNvSpPr/>
          <p:nvPr/>
        </p:nvSpPr>
        <p:spPr>
          <a:xfrm>
            <a:off x="5934456" y="5234170"/>
            <a:ext cx="6099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0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Log view after integrating both branches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4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50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816" name="Google Shape;816;p44"/>
          <p:cNvSpPr/>
          <p:nvPr/>
        </p:nvSpPr>
        <p:spPr>
          <a:xfrm>
            <a:off x="822960" y="143757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7B21"/>
              </a:buClr>
              <a:buSzPts val="14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CHAPTER 3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44"/>
          <p:cNvSpPr/>
          <p:nvPr/>
        </p:nvSpPr>
        <p:spPr>
          <a:xfrm>
            <a:off x="822960" y="184905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lang="en-GB" sz="36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Post integration</a:t>
            </a:r>
            <a:endParaRPr sz="36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44"/>
          <p:cNvSpPr/>
          <p:nvPr/>
        </p:nvSpPr>
        <p:spPr>
          <a:xfrm>
            <a:off x="822960" y="2763450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CEDC"/>
              </a:buClr>
              <a:buSzPts val="14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With both branches refined and integrated, run symmetry, scaling, and export independently on each branch.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44"/>
          <p:cNvSpPr/>
          <p:nvPr/>
        </p:nvSpPr>
        <p:spPr>
          <a:xfrm>
            <a:off x="822960" y="376929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ADC4"/>
              </a:buClr>
              <a:buSzPts val="12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Determine symmetry     ·     Scale     ·     Export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5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51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826" name="Google Shape;826;p45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C77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45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CHAPTER 3 · POST INTEGRATION</a:t>
            </a:r>
            <a:endParaRPr sz="18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45"/>
          <p:cNvSpPr/>
          <p:nvPr/>
        </p:nvSpPr>
        <p:spPr>
          <a:xfrm>
            <a:off x="502920" y="960120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10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45"/>
          <p:cNvSpPr/>
          <p:nvPr/>
        </p:nvSpPr>
        <p:spPr>
          <a:xfrm>
            <a:off x="502920" y="1298448"/>
            <a:ext cx="5212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400"/>
              <a:buFont typeface="Georgia"/>
              <a:buNone/>
            </a:pPr>
            <a:r>
              <a:rPr lang="en-GB" sz="24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Determine crystal symmetry</a:t>
            </a:r>
            <a:endParaRPr sz="24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5"/>
          <p:cNvSpPr/>
          <p:nvPr/>
        </p:nvSpPr>
        <p:spPr>
          <a:xfrm>
            <a:off x="548640" y="2068256"/>
            <a:ext cx="82200" cy="82200"/>
          </a:xfrm>
          <a:prstGeom prst="ellipse">
            <a:avLst/>
          </a:prstGeom>
          <a:solidFill>
            <a:srgbClr val="C77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45"/>
          <p:cNvSpPr/>
          <p:nvPr/>
        </p:nvSpPr>
        <p:spPr>
          <a:xfrm>
            <a:off x="777240" y="1976816"/>
            <a:ext cx="4892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Select "symmetry" and click Run.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45"/>
          <p:cNvSpPr/>
          <p:nvPr/>
        </p:nvSpPr>
        <p:spPr>
          <a:xfrm>
            <a:off x="548640" y="2461448"/>
            <a:ext cx="82200" cy="82200"/>
          </a:xfrm>
          <a:prstGeom prst="ellipse">
            <a:avLst/>
          </a:prstGeom>
          <a:solidFill>
            <a:srgbClr val="C77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45"/>
          <p:cNvSpPr/>
          <p:nvPr/>
        </p:nvSpPr>
        <p:spPr>
          <a:xfrm>
            <a:off x="777240" y="2370008"/>
            <a:ext cx="4892100" cy="1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The analysis should return P m m m as the Laue group, with clear 2₁ screw axes indicating an orthorhombic space group (P 2 2₁ 2₁ for the first dataset — axis labelling may differ for other archive datasets).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5"/>
          <p:cNvSpPr/>
          <p:nvPr/>
        </p:nvSpPr>
        <p:spPr>
          <a:xfrm>
            <a:off x="502925" y="4437925"/>
            <a:ext cx="5212200" cy="116550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9525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45"/>
          <p:cNvSpPr/>
          <p:nvPr/>
        </p:nvSpPr>
        <p:spPr>
          <a:xfrm>
            <a:off x="731520" y="4556784"/>
            <a:ext cx="4755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15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No reflections test the 2₁ screw along a for this dataset — worth testing both P 2 2₁ 2₁ and P 2₁ 2₁ 2₁ during structure solution.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45"/>
          <p:cNvSpPr/>
          <p:nvPr/>
        </p:nvSpPr>
        <p:spPr>
          <a:xfrm>
            <a:off x="5934456" y="1337475"/>
            <a:ext cx="6099000" cy="3839100"/>
          </a:xfrm>
          <a:prstGeom prst="roundRect">
            <a:avLst>
              <a:gd name="adj" fmla="val 953"/>
            </a:avLst>
          </a:prstGeom>
          <a:solidFill>
            <a:srgbClr val="FFFFFF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1B2A4A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45" descr="/home/claude/dui2_pptx/images/Screenshot_after_symmetr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9320" y="1392339"/>
            <a:ext cx="5989321" cy="3729275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45"/>
          <p:cNvSpPr/>
          <p:nvPr/>
        </p:nvSpPr>
        <p:spPr>
          <a:xfrm>
            <a:off x="5989320" y="5231341"/>
            <a:ext cx="5989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0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DUI2 with new symmetry applied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46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52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845" name="Google Shape;845;p46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C77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6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CHAPTER 3 · POST INTEGRATION</a:t>
            </a:r>
            <a:endParaRPr sz="18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46"/>
          <p:cNvSpPr/>
          <p:nvPr/>
        </p:nvSpPr>
        <p:spPr>
          <a:xfrm>
            <a:off x="502920" y="960120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11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6"/>
          <p:cNvSpPr/>
          <p:nvPr/>
        </p:nvSpPr>
        <p:spPr>
          <a:xfrm>
            <a:off x="502920" y="1298448"/>
            <a:ext cx="5212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400"/>
              <a:buFont typeface="Georgia"/>
              <a:buNone/>
            </a:pPr>
            <a:r>
              <a:rPr lang="en-GB" sz="24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Scale</a:t>
            </a:r>
            <a:endParaRPr sz="24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46"/>
          <p:cNvSpPr/>
          <p:nvPr/>
        </p:nvSpPr>
        <p:spPr>
          <a:xfrm>
            <a:off x="548640" y="2130886"/>
            <a:ext cx="82200" cy="82200"/>
          </a:xfrm>
          <a:prstGeom prst="ellipse">
            <a:avLst/>
          </a:prstGeom>
          <a:solidFill>
            <a:srgbClr val="C77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46"/>
          <p:cNvSpPr/>
          <p:nvPr/>
        </p:nvSpPr>
        <p:spPr>
          <a:xfrm>
            <a:off x="777240" y="2039446"/>
            <a:ext cx="48921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Select "scale" and click Run with default parameters.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6"/>
          <p:cNvSpPr/>
          <p:nvPr/>
        </p:nvSpPr>
        <p:spPr>
          <a:xfrm>
            <a:off x="548640" y="2770966"/>
            <a:ext cx="82200" cy="82200"/>
          </a:xfrm>
          <a:prstGeom prst="ellipse">
            <a:avLst/>
          </a:prstGeom>
          <a:solidFill>
            <a:srgbClr val="C77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46"/>
          <p:cNvSpPr/>
          <p:nvPr/>
        </p:nvSpPr>
        <p:spPr>
          <a:xfrm>
            <a:off x="777240" y="2679526"/>
            <a:ext cx="48921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Check the Report tab for resolution-dependent statistics.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46"/>
          <p:cNvSpPr/>
          <p:nvPr/>
        </p:nvSpPr>
        <p:spPr>
          <a:xfrm>
            <a:off x="502925" y="3456783"/>
            <a:ext cx="5212200" cy="1259700"/>
          </a:xfrm>
          <a:prstGeom prst="roundRect">
            <a:avLst>
              <a:gd name="adj" fmla="val 7500"/>
            </a:avLst>
          </a:prstGeom>
          <a:solidFill>
            <a:srgbClr val="F1F4F7"/>
          </a:solidFill>
          <a:ln w="9525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6"/>
          <p:cNvSpPr/>
          <p:nvPr/>
        </p:nvSpPr>
        <p:spPr>
          <a:xfrm>
            <a:off x="731520" y="3575638"/>
            <a:ext cx="4755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15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The data has not yet been merged at this stage — dials.scale reports merging statistics but retains all observations.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46"/>
          <p:cNvSpPr/>
          <p:nvPr/>
        </p:nvSpPr>
        <p:spPr>
          <a:xfrm>
            <a:off x="5934456" y="1400105"/>
            <a:ext cx="6099000" cy="3839100"/>
          </a:xfrm>
          <a:prstGeom prst="roundRect">
            <a:avLst>
              <a:gd name="adj" fmla="val 953"/>
            </a:avLst>
          </a:prstGeom>
          <a:solidFill>
            <a:srgbClr val="FFFFFF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1B2A4A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6" name="Google Shape;856;p46" descr="/home/claude/dui2_pptx/images/Screenshot_report_after_scal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9320" y="1454969"/>
            <a:ext cx="5989321" cy="3729275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46"/>
          <p:cNvSpPr/>
          <p:nvPr/>
        </p:nvSpPr>
        <p:spPr>
          <a:xfrm>
            <a:off x="5989320" y="5293971"/>
            <a:ext cx="5989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0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Report tab after scaling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67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53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863" name="Google Shape;863;p67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C77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67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CHAPTER 3 · POST INTEGRATION</a:t>
            </a:r>
            <a:endParaRPr sz="18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67"/>
          <p:cNvSpPr/>
          <p:nvPr/>
        </p:nvSpPr>
        <p:spPr>
          <a:xfrm>
            <a:off x="502920" y="91440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12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67"/>
          <p:cNvSpPr/>
          <p:nvPr/>
        </p:nvSpPr>
        <p:spPr>
          <a:xfrm>
            <a:off x="502920" y="1207008"/>
            <a:ext cx="11155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lang="en-GB" sz="22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Export</a:t>
            </a:r>
            <a:endParaRPr sz="22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67"/>
          <p:cNvSpPr/>
          <p:nvPr/>
        </p:nvSpPr>
        <p:spPr>
          <a:xfrm>
            <a:off x="548640" y="2110009"/>
            <a:ext cx="82200" cy="82200"/>
          </a:xfrm>
          <a:prstGeom prst="ellipse">
            <a:avLst/>
          </a:prstGeom>
          <a:solidFill>
            <a:srgbClr val="C77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67"/>
          <p:cNvSpPr/>
          <p:nvPr/>
        </p:nvSpPr>
        <p:spPr>
          <a:xfrm>
            <a:off x="777240" y="2018569"/>
            <a:ext cx="4892100" cy="161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Select "export", click Run, then "Download/save file" to write the MTZ for this lattice. Repeat on the second branch for a separate MTZ per lattice.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67"/>
          <p:cNvSpPr/>
          <p:nvPr/>
        </p:nvSpPr>
        <p:spPr>
          <a:xfrm>
            <a:off x="5934456" y="1501663"/>
            <a:ext cx="6099000" cy="3594000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1B2A4A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0" name="Google Shape;870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9320" y="1556527"/>
            <a:ext cx="5989272" cy="3484272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67"/>
          <p:cNvSpPr/>
          <p:nvPr/>
        </p:nvSpPr>
        <p:spPr>
          <a:xfrm>
            <a:off x="5934456" y="5150663"/>
            <a:ext cx="6099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0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Export and download/save MTZ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68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54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877" name="Google Shape;877;p68"/>
          <p:cNvSpPr/>
          <p:nvPr/>
        </p:nvSpPr>
        <p:spPr>
          <a:xfrm>
            <a:off x="502920" y="420000"/>
            <a:ext cx="5300000" cy="420000"/>
          </a:xfrm>
          <a:prstGeom prst="roundRect">
            <a:avLst>
              <a:gd name="adj" fmla="val 50000"/>
            </a:avLst>
          </a:prstGeom>
          <a:solidFill>
            <a:srgbClr val="C77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68"/>
          <p:cNvSpPr/>
          <p:nvPr/>
        </p:nvSpPr>
        <p:spPr>
          <a:xfrm>
            <a:off x="502920" y="420000"/>
            <a:ext cx="53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GB" sz="1800" b="1" i="0" u="none" strike="noStrike" cap="none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CHAPTER 3 · POST INTEGRATION</a:t>
            </a:r>
            <a:endParaRPr sz="18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68"/>
          <p:cNvSpPr/>
          <p:nvPr/>
        </p:nvSpPr>
        <p:spPr>
          <a:xfrm>
            <a:off x="502920" y="91440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3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Step 12 (continued)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68"/>
          <p:cNvSpPr/>
          <p:nvPr/>
        </p:nvSpPr>
        <p:spPr>
          <a:xfrm>
            <a:off x="502920" y="1207008"/>
            <a:ext cx="11155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lang="en-GB" sz="22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Export</a:t>
            </a:r>
            <a:endParaRPr sz="22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68"/>
          <p:cNvSpPr/>
          <p:nvPr/>
        </p:nvSpPr>
        <p:spPr>
          <a:xfrm>
            <a:off x="548640" y="2423160"/>
            <a:ext cx="82200" cy="82200"/>
          </a:xfrm>
          <a:prstGeom prst="ellipse">
            <a:avLst/>
          </a:prstGeom>
          <a:solidFill>
            <a:srgbClr val="C77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68"/>
          <p:cNvSpPr/>
          <p:nvPr/>
        </p:nvSpPr>
        <p:spPr>
          <a:xfrm>
            <a:off x="777240" y="2331720"/>
            <a:ext cx="4892100" cy="10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To upload directly to CCP4 Cloud: note your project ID and "CloudRun Id" from My Account, then press "Upload to CCP4-cloud" in DUI2 and fill in the dialog — this creates a cloudrun node.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68"/>
          <p:cNvSpPr/>
          <p:nvPr/>
        </p:nvSpPr>
        <p:spPr>
          <a:xfrm>
            <a:off x="5934456" y="1814814"/>
            <a:ext cx="6099000" cy="3594000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12700" cap="flat" cmpd="sng">
            <a:solidFill>
              <a:srgbClr val="D9E0E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1B2A4A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4" name="Google Shape;884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9320" y="1869678"/>
            <a:ext cx="5989272" cy="3484272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68"/>
          <p:cNvSpPr/>
          <p:nvPr/>
        </p:nvSpPr>
        <p:spPr>
          <a:xfrm>
            <a:off x="5934456" y="5463814"/>
            <a:ext cx="6099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06D"/>
              </a:buClr>
              <a:buSzPts val="1000"/>
              <a:buFont typeface="Georgia"/>
              <a:buNone/>
            </a:pPr>
            <a:r>
              <a:rPr lang="en-GB" sz="1800" b="0" i="1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CCP4 Cloud project page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48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55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892" name="Google Shape;892;p48"/>
          <p:cNvSpPr/>
          <p:nvPr/>
        </p:nvSpPr>
        <p:spPr>
          <a:xfrm>
            <a:off x="822960" y="77724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lang="en-GB" sz="26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Summary</a:t>
            </a:r>
            <a:endParaRPr sz="26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48"/>
          <p:cNvSpPr/>
          <p:nvPr/>
        </p:nvSpPr>
        <p:spPr>
          <a:xfrm>
            <a:off x="822960" y="1600200"/>
            <a:ext cx="128100" cy="1051500"/>
          </a:xfrm>
          <a:prstGeom prst="roundRect">
            <a:avLst>
              <a:gd name="adj" fmla="val 16667"/>
            </a:avLst>
          </a:prstGeom>
          <a:solidFill>
            <a:srgbClr val="0F7C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48"/>
          <p:cNvSpPr/>
          <p:nvPr/>
        </p:nvSpPr>
        <p:spPr>
          <a:xfrm>
            <a:off x="1143000" y="1554480"/>
            <a:ext cx="9875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Discover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48"/>
          <p:cNvSpPr/>
          <p:nvPr/>
        </p:nvSpPr>
        <p:spPr>
          <a:xfrm>
            <a:off x="1143000" y="1920240"/>
            <a:ext cx="99669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CEDC"/>
              </a:buClr>
              <a:buSzPts val="125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Single-lattice indexing exposed a second lattice via the Image, Log, Report, and Reciprocal lattice tabs; re-indexing with max_lattices=5 and splitting produced two independent branches.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48"/>
          <p:cNvSpPr/>
          <p:nvPr/>
        </p:nvSpPr>
        <p:spPr>
          <a:xfrm>
            <a:off x="822960" y="2971800"/>
            <a:ext cx="128100" cy="1051500"/>
          </a:xfrm>
          <a:prstGeom prst="roundRect">
            <a:avLst>
              <a:gd name="adj" fmla="val 16667"/>
            </a:avLst>
          </a:prstGeom>
          <a:solidFill>
            <a:srgbClr val="6A4F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48"/>
          <p:cNvSpPr/>
          <p:nvPr/>
        </p:nvSpPr>
        <p:spPr>
          <a:xfrm>
            <a:off x="1143000" y="2926080"/>
            <a:ext cx="9875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Process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8"/>
          <p:cNvSpPr/>
          <p:nvPr/>
        </p:nvSpPr>
        <p:spPr>
          <a:xfrm>
            <a:off x="1143000" y="3291840"/>
            <a:ext cx="99669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CEDC"/>
              </a:buClr>
              <a:buSzPts val="125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Each branch moved through Bravais settings, reindexing to the shared oP solution, refinement with Tukey outlier rejection, and integration.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48"/>
          <p:cNvSpPr/>
          <p:nvPr/>
        </p:nvSpPr>
        <p:spPr>
          <a:xfrm>
            <a:off x="822960" y="4343400"/>
            <a:ext cx="128100" cy="1051500"/>
          </a:xfrm>
          <a:prstGeom prst="roundRect">
            <a:avLst>
              <a:gd name="adj" fmla="val 16667"/>
            </a:avLst>
          </a:prstGeom>
          <a:solidFill>
            <a:srgbClr val="C77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48"/>
          <p:cNvSpPr/>
          <p:nvPr/>
        </p:nvSpPr>
        <p:spPr>
          <a:xfrm>
            <a:off x="1143000" y="4297680"/>
            <a:ext cx="9875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GB" sz="1800" b="1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Post integration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48"/>
          <p:cNvSpPr/>
          <p:nvPr/>
        </p:nvSpPr>
        <p:spPr>
          <a:xfrm>
            <a:off x="1143000" y="4663440"/>
            <a:ext cx="99669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CEDC"/>
              </a:buClr>
              <a:buSzPts val="1250"/>
              <a:buFont typeface="Georgia"/>
              <a:buNone/>
            </a:pPr>
            <a:r>
              <a:rPr lang="en-GB" sz="1800" b="0" i="0" u="none" strike="noStrike" cap="non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Each branch was independently assigned symmetry (P m m m Laue group), scaled, and exported to its own MTZ — optionally uploaded to CCP4 Cloud.</a:t>
            </a:r>
            <a:endParaRPr sz="18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9"/>
          <p:cNvSpPr txBox="1">
            <a:spLocks noGrp="1"/>
          </p:cNvSpPr>
          <p:nvPr>
            <p:ph type="sldNum" idx="12"/>
          </p:nvPr>
        </p:nvSpPr>
        <p:spPr>
          <a:xfrm>
            <a:off x="10554001" y="6176963"/>
            <a:ext cx="127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>
                <a:solidFill>
                  <a:srgbClr val="0000FF"/>
                </a:solidFill>
              </a:rPr>
              <a:t>56</a:t>
            </a:fld>
            <a:endParaRPr>
              <a:solidFill>
                <a:srgbClr val="0000FF"/>
              </a:solidFill>
            </a:endParaRPr>
          </a:p>
        </p:txBody>
      </p:sp>
      <p:sp>
        <p:nvSpPr>
          <p:cNvPr id="908" name="Google Shape;908;p49"/>
          <p:cNvSpPr/>
          <p:nvPr/>
        </p:nvSpPr>
        <p:spPr>
          <a:xfrm>
            <a:off x="583150" y="826950"/>
            <a:ext cx="8203500" cy="50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200" b="1" dirty="0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4200" b="1" dirty="0">
              <a:solidFill>
                <a:srgbClr val="0000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700" b="1">
              <a:solidFill>
                <a:srgbClr val="0000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b="1" dirty="0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luis.fuentes-montero@diamond.ac.uk</a:t>
            </a:r>
            <a:endParaRPr sz="3200" b="1" dirty="0">
              <a:solidFill>
                <a:srgbClr val="0000FF"/>
              </a:solidFill>
              <a:latin typeface="Georgia"/>
              <a:ea typeface="Georgia"/>
              <a:cs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 b="1" dirty="0">
              <a:solidFill>
                <a:srgbClr val="0000FF"/>
              </a:solidFill>
              <a:latin typeface="Georgia"/>
              <a:ea typeface="Georgia"/>
              <a:cs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b="1" dirty="0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https://github.com/ccp4/DUI2/wiki</a:t>
            </a:r>
            <a:endParaRPr sz="3200" b="1" dirty="0">
              <a:solidFill>
                <a:srgbClr val="0000FF"/>
              </a:solidFill>
              <a:latin typeface="Georgia"/>
              <a:ea typeface="Georgia"/>
              <a:cs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 b="1" dirty="0">
              <a:solidFill>
                <a:srgbClr val="0000FF"/>
              </a:solidFill>
              <a:latin typeface="Georgia"/>
              <a:ea typeface="Georgia"/>
              <a:cs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b="1" dirty="0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https://github.com/ccp4/DUI2/issues</a:t>
            </a:r>
            <a:endParaRPr sz="3200" b="1" dirty="0">
              <a:solidFill>
                <a:srgbClr val="0000FF"/>
              </a:solidFill>
              <a:latin typeface="Georgia"/>
              <a:ea typeface="Georgia"/>
              <a:cs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EA0"/>
              </a:buClr>
              <a:buSzPts val="1100"/>
              <a:buFont typeface="Georgia"/>
              <a:buNone/>
            </a:pPr>
            <a:endParaRPr sz="2100" b="1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9" name="Google Shape;909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05200" y="2770127"/>
            <a:ext cx="2070498" cy="84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33550" y="1025204"/>
            <a:ext cx="3013811" cy="851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59471" y="4331612"/>
            <a:ext cx="1761950" cy="121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amond PPT template">
  <a:themeElements>
    <a:clrScheme name="Diamond">
      <a:dk1>
        <a:srgbClr val="000000"/>
      </a:dk1>
      <a:lt1>
        <a:srgbClr val="FFFFFF"/>
      </a:lt1>
      <a:dk2>
        <a:srgbClr val="202945"/>
      </a:dk2>
      <a:lt2>
        <a:srgbClr val="E8E8E8"/>
      </a:lt2>
      <a:accent1>
        <a:srgbClr val="202945"/>
      </a:accent1>
      <a:accent2>
        <a:srgbClr val="009CA6"/>
      </a:accent2>
      <a:accent3>
        <a:srgbClr val="008C15"/>
      </a:accent3>
      <a:accent4>
        <a:srgbClr val="FCD021"/>
      </a:accent4>
      <a:accent5>
        <a:srgbClr val="FF6900"/>
      </a:accent5>
      <a:accent6>
        <a:srgbClr val="E10600"/>
      </a:accent6>
      <a:hlink>
        <a:srgbClr val="009CA6"/>
      </a:hlink>
      <a:folHlink>
        <a:srgbClr val="B000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4710696-f0fd-4659-9c41-342689838806}" enabled="1" method="Privileged" siteId="{9d27ba74-0100-4d0d-81ff-1d728dae8df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3054</Words>
  <Application>Microsoft Office PowerPoint</Application>
  <PresentationFormat>Widescreen</PresentationFormat>
  <Paragraphs>435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6" baseType="lpstr">
      <vt:lpstr>Arial</vt:lpstr>
      <vt:lpstr>Cambria</vt:lpstr>
      <vt:lpstr>Calibri</vt:lpstr>
      <vt:lpstr>Aptos</vt:lpstr>
      <vt:lpstr>Georgia</vt:lpstr>
      <vt:lpstr>Consolas</vt:lpstr>
      <vt:lpstr>Oswald</vt:lpstr>
      <vt:lpstr>Average</vt:lpstr>
      <vt:lpstr>Courier New</vt:lpstr>
      <vt:lpstr>Diamond PPT template</vt:lpstr>
      <vt:lpstr>DUI2 - Dials User 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Fuentes-Montero, Luis (DLSLtd,RAL,DOD)</dc:creator>
  <cp:lastModifiedBy>Fuentes-Montero, Luis (DLSLtd,RAL,DOD)</cp:lastModifiedBy>
  <cp:revision>99</cp:revision>
  <dcterms:modified xsi:type="dcterms:W3CDTF">2026-09-10T21:35:46Z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Diamond PPT template:3</vt:lpwstr>
  </property>
  <property fmtid="{D5CDD505-2E9C-101B-9397-08002B2CF9AE}" pid="3" name="ClassificationContentMarkingFooterText">
    <vt:lpwstr>Classification: Public</vt:lpwstr>
  </property>
</Properties>
</file>